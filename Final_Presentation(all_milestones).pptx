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9273E"/>
          </a:solidFill>
          <a:ln>
            <a:solidFill>
              <a:srgbClr val="192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64040" y="1097280"/>
            <a:ext cx="914400" cy="914400"/>
          </a:xfrm>
          <a:prstGeom prst="ellipse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1508760"/>
            <a:ext cx="594360" cy="594360"/>
          </a:xfrm>
          <a:prstGeom prst="ellipse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46920" y="2011680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47548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7BEAA"/>
                </a:solidFill>
                <a:latin typeface="Aptos"/>
              </a:rP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949440" cy="1417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Financial Risk
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64008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Infosys Data Visualization Internship  •  Team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38928"/>
            <a:ext cx="6400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AB9CD"/>
                </a:solidFill>
                <a:latin typeface="Aptos"/>
              </a:rPr>
              <a:t>Praharsha  •  Sindhura  •  Madeeha  •  Santhosh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2854949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2700" b="1" dirty="0">
                <a:solidFill>
                  <a:srgbClr val="0F1B2D"/>
                </a:solidFill>
                <a:latin typeface="Aptos"/>
              </a:rPr>
              <a:t>About the </a:t>
            </a:r>
            <a:r>
              <a:rPr sz="2700" b="1" dirty="0">
                <a:solidFill>
                  <a:srgbClr val="0F1B2D"/>
                </a:solidFill>
                <a:latin typeface="Aptos"/>
              </a:rPr>
              <a:t>Project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7899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647080"/>
                </a:solidFill>
                <a:latin typeface="Aptos"/>
              </a:rPr>
              <a:t>A clear progression from understanding the data to decision-ready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251460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8" y="226771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350008"/>
            <a:ext cx="475488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44368"/>
            <a:ext cx="205740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93008"/>
            <a:ext cx="1967337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Project abstract, dataset understanding and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590288"/>
            <a:ext cx="2084831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16,500 raw records • 20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57400"/>
            <a:ext cx="251460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30168" y="226771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350008"/>
            <a:ext cx="475488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44368"/>
            <a:ext cx="205740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493008"/>
            <a:ext cx="2054657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Data quality, type conversion, risk bands and feature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4590288"/>
            <a:ext cx="2432307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dirty="0">
                <a:solidFill>
                  <a:srgbClr val="1F9D8B"/>
                </a:solidFill>
                <a:latin typeface="Aptos"/>
              </a:rPr>
              <a:t>1,500 duplicates removed • 15,000 retained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057400"/>
            <a:ext cx="251460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64807" y="226771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2350008"/>
            <a:ext cx="475488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944368"/>
            <a:ext cx="2715765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0F1B2D"/>
                </a:solidFill>
                <a:latin typeface="Aptos"/>
              </a:rPr>
              <a:t>DASHBOARD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493008"/>
            <a:ext cx="2054658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16 dashboard views across four team members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590288"/>
            <a:ext cx="205465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Risk, income, loans, credit, DTI, geography &amp; more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057400"/>
            <a:ext cx="251460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99448" y="226771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2350008"/>
            <a:ext cx="475488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944368"/>
            <a:ext cx="205740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INTERACTIVE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493008"/>
            <a:ext cx="205740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Risk assessment, pattern analysis, executive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4590288"/>
            <a:ext cx="218462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dirty="0">
                <a:solidFill>
                  <a:srgbClr val="EAB14C"/>
                </a:solidFill>
                <a:latin typeface="Aptos"/>
              </a:rPr>
              <a:t>15,000 records • 1,500 high-risk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558953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2700" b="1" dirty="0">
                <a:solidFill>
                  <a:srgbClr val="0F1B2D"/>
                </a:solidFill>
                <a:latin typeface="Aptos"/>
              </a:rPr>
              <a:t>CONTEXT</a:t>
            </a:r>
            <a:endParaRPr sz="2700" b="1" dirty="0">
              <a:solidFill>
                <a:srgbClr val="0F1B2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565" y="1518838"/>
            <a:ext cx="5501641" cy="3820324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853695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dirty="0">
                <a:solidFill>
                  <a:srgbClr val="47BEAA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8214"/>
            <a:ext cx="5174717" cy="15173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0" dirty="0">
                <a:solidFill>
                  <a:srgbClr val="FFFFFF"/>
                </a:solidFill>
                <a:latin typeface="Aptos"/>
              </a:rPr>
              <a:t>Financial datasets contain many customer, credit and repayment attributes. Without preprocessing and visualization, </a:t>
            </a:r>
            <a:endParaRPr lang="en-IN" sz="19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900" b="0" dirty="0">
                <a:solidFill>
                  <a:srgbClr val="FFFFFF"/>
                </a:solidFill>
                <a:latin typeface="Aptos"/>
              </a:rPr>
              <a:t>important risk patterns can be difficult to interpret quickly.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2743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F9D8B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71663" cy="2539157"/>
          </a:xfrm>
          <a:prstGeom prst="rect">
            <a:avLst/>
          </a:prstGeom>
          <a:noFill/>
        </p:spPr>
        <p:txBody>
          <a:bodyPr wrap="none" lIns="45720" r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Assess customer risk clearly across Low, Medium and </a:t>
            </a:r>
            <a:endParaRPr lang="en-IN" dirty="0"/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lang="en-IN" dirty="0"/>
              <a:t>    </a:t>
            </a:r>
            <a:r>
              <a:rPr dirty="0"/>
              <a:t>High segments.</a:t>
            </a:r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Discover patterns using credit, income, loans, </a:t>
            </a:r>
            <a:endParaRPr lang="en-IN" dirty="0"/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payment history and DTI.</a:t>
            </a:r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Build an executive-level view of key financial indicators.</a:t>
            </a:r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Support proactive monitoring through risk-focused </a:t>
            </a:r>
            <a:endParaRPr lang="en-IN" dirty="0"/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dashboard 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3795"/>
            <a:ext cx="2773965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 dirty="0">
                <a:solidFill>
                  <a:srgbClr val="0F1B2D"/>
                </a:solidFill>
                <a:latin typeface="Aptos"/>
              </a:rPr>
              <a:t>Dataset </a:t>
            </a:r>
            <a:r>
              <a:rPr lang="en-IN" sz="2700" b="1" dirty="0">
                <a:solidFill>
                  <a:srgbClr val="0F1B2D"/>
                </a:solidFill>
                <a:latin typeface="Aptos"/>
              </a:rPr>
              <a:t>overview</a:t>
            </a:r>
            <a:endParaRPr sz="2700" b="1" dirty="0">
              <a:solidFill>
                <a:srgbClr val="0F1B2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114300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20574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RAW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20574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16,500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0876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4680" y="1508760"/>
            <a:ext cx="64008" cy="114300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673351"/>
            <a:ext cx="20574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ORIGINAL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947672"/>
            <a:ext cx="20574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50876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1508760"/>
            <a:ext cx="64008" cy="114300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1673351"/>
            <a:ext cx="20574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DUPLICATES IDENTIFIED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1947672"/>
            <a:ext cx="20574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5087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1508760"/>
            <a:ext cx="64008" cy="1143000"/>
          </a:xfrm>
          <a:prstGeom prst="rect">
            <a:avLst/>
          </a:prstGeom>
          <a:solidFill>
            <a:srgbClr val="399664"/>
          </a:solidFill>
          <a:ln>
            <a:solidFill>
              <a:srgbClr val="39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1673351"/>
            <a:ext cx="24231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RETAINED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1947672"/>
            <a:ext cx="24231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0F1B2D"/>
                </a:solidFill>
                <a:latin typeface="Aptos"/>
              </a:rPr>
              <a:t>Core financial and customer attributes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7472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56616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Age &amp; demographics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47472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93008" y="356616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Income &amp; credit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977639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06908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Loan amount &amp; purpose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977639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93008" y="406908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Employment &amp; job tenure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48056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57200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Payment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448056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93008" y="457200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Debt-to-income ratio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8348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507492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Assets &amp; dependents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498348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93008" y="507492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Previous defaults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48640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557784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Location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548640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93008" y="557784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Risk rating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2971800"/>
            <a:ext cx="45720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3291840"/>
            <a:ext cx="3840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What the dataset supports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49039"/>
            <a:ext cx="3840480" cy="1417320"/>
          </a:xfrm>
          <a:prstGeom prst="rect">
            <a:avLst/>
          </a:prstGeom>
          <a:noFill/>
        </p:spPr>
        <p:txBody>
          <a:bodyPr wrap="none" lIns="45720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Customer-level financial profiling</a:t>
            </a:r>
          </a:p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Risk segmentation and comparison</a:t>
            </a:r>
          </a:p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Loan and repayment analysis</a:t>
            </a:r>
          </a:p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Preparation for further modeling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2 •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39"/>
            <a:ext cx="6080759" cy="3456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2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989320" cy="3364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03720" y="153619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86600" y="1655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76479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645919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45919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Rows, columns, missing values and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40487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0" y="2523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263347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514600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Missing values &amp; numeric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27355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86600" y="33924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350215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383280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Categorize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383280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Income, credit, loan and DTI bands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142231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86600" y="4261103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86600" y="4370831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251959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Encode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251959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Convert categories into 0/1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501091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86600" y="5129783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523951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5120640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Select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120640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Retain relevant predictors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989320"/>
            <a:ext cx="4835996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dirty="0">
                <a:solidFill>
                  <a:srgbClr val="1F9D8B"/>
                </a:solidFill>
                <a:latin typeface="Aptos"/>
              </a:rPr>
              <a:t>Outcome: a structured, model-ready feature set for risk profiling and visualization.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9273E"/>
          </a:solidFill>
          <a:ln>
            <a:solidFill>
              <a:srgbClr val="192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72600" y="914400"/>
            <a:ext cx="2011680" cy="9144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72600" y="1234440"/>
            <a:ext cx="1280160" cy="9144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41148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47BEAA"/>
                </a:solidFill>
                <a:latin typeface="Aptos"/>
              </a:rPr>
              <a:t>MILESTONE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680960" cy="12344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Dashboard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971800"/>
            <a:ext cx="8176507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0" dirty="0">
                <a:solidFill>
                  <a:srgbClr val="CDD8E6"/>
                </a:solidFill>
                <a:latin typeface="Aptos"/>
              </a:rPr>
              <a:t>16 dashboard views were designed to turn the prepared data into interactive risk stories.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A0B4CD"/>
                </a:solidFill>
                <a:latin typeface="Aptos"/>
              </a:rPr>
              <a:t>FINANCIAL RISK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080760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0">
                <a:solidFill>
                  <a:srgbClr val="A0B4C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3 • DASHBOARD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967526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2700" b="1" dirty="0">
                <a:solidFill>
                  <a:srgbClr val="0F1B2D"/>
                </a:solidFill>
                <a:latin typeface="Aptos"/>
              </a:rPr>
              <a:t>D</a:t>
            </a:r>
            <a:r>
              <a:rPr sz="2700" b="1" dirty="0" err="1">
                <a:solidFill>
                  <a:srgbClr val="0F1B2D"/>
                </a:solidFill>
                <a:latin typeface="Aptos"/>
              </a:rPr>
              <a:t>ashboards</a:t>
            </a:r>
            <a:endParaRPr sz="2700" b="1" dirty="0">
              <a:solidFill>
                <a:srgbClr val="0F1B2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14600" cy="452628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95528" y="2212848"/>
            <a:ext cx="201168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Financial Risk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06324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19125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Income &amp; Financial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84048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96849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Assets &amp; Financial Strength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461772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474573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Customer Demographics &amp;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08760"/>
            <a:ext cx="2514600" cy="452628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2212848"/>
            <a:ext cx="201168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Financial Risk 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3592" y="306324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0752" y="319125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Loan Portfolio &amp; Purpose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3592" y="384048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30752" y="396849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Payment Behavior &amp; Credit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93592" y="461772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30752" y="474573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Employment Stability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08760"/>
            <a:ext cx="2514600" cy="452628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2212848"/>
            <a:ext cx="201168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Credit Quality &amp; Exposure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8232" y="306324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19125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High Risk Customer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8232" y="384048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396849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Debt-to-Income &amp; Financial Stress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8232" y="461772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4745736"/>
            <a:ext cx="191109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dirty="0">
                <a:solidFill>
                  <a:srgbClr val="222D3D"/>
                </a:solidFill>
                <a:latin typeface="Aptos"/>
              </a:rPr>
              <a:t>Default Risk &amp; Repayment Exposure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508760"/>
            <a:ext cx="2514600" cy="452628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99448" y="1755648"/>
            <a:ext cx="55464" cy="51706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endParaRPr lang="en-IN" sz="1000" b="1" dirty="0">
              <a:solidFill>
                <a:srgbClr val="1F9D8B"/>
              </a:solidFill>
              <a:latin typeface="Aptos"/>
            </a:endParaRPr>
          </a:p>
          <a:p>
            <a:pPr algn="l"/>
            <a:endParaRPr lang="en-IN" sz="1000" b="1" dirty="0">
              <a:solidFill>
                <a:srgbClr val="1F9D8B"/>
              </a:solidFill>
              <a:latin typeface="Aptos"/>
            </a:endParaRPr>
          </a:p>
          <a:p>
            <a:pPr algn="l"/>
            <a:endParaRPr sz="1000" b="1" dirty="0">
              <a:solidFill>
                <a:srgbClr val="1F9D8B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99448" y="2212848"/>
            <a:ext cx="2464329" cy="48628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0F1B2D"/>
                </a:solidFill>
                <a:latin typeface="Aptos"/>
              </a:rPr>
              <a:t>Risk Assessment &amp; Customer</a:t>
            </a:r>
            <a:endParaRPr lang="en-IN" sz="1400" b="1" dirty="0">
              <a:solidFill>
                <a:srgbClr val="0F1B2D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0F1B2D"/>
                </a:solidFill>
                <a:latin typeface="Aptos"/>
              </a:rPr>
              <a:t> Coverage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62872" y="306324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00032" y="319125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Geographic Risk Profile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62872" y="384048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0032" y="3968496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Education &amp; Financial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62872" y="4617720"/>
            <a:ext cx="217627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00032" y="4745736"/>
            <a:ext cx="246432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D"/>
                </a:solidFill>
                <a:latin typeface="Aptos"/>
              </a:rPr>
              <a:t>Customer Affordability &amp; Lending 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Financial Risk Analysis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Provide an overall view of customer financial risk and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Customer KPI summary and risk distribution
• Geographic loan exposure
• Credit score vs loan amount
• Employment and DTI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Total records: 1,000
• High-risk customers: 89
• Average credit score: 698.7
• Average loan amount: 26.8K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quick customer-risk screening and comparison of major financial indicators.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1/16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088C29-074A-A689-349E-A0CF32F06286}"/>
              </a:ext>
            </a:extLst>
          </p:cNvPr>
          <p:cNvSpPr/>
          <p:nvPr/>
        </p:nvSpPr>
        <p:spPr>
          <a:xfrm>
            <a:off x="119119" y="1152144"/>
            <a:ext cx="7065779" cy="52166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6" name="Picture 25" descr="5d851013-50a2-4b0b-aa24-615d0b5a320f.jpeg">
            <a:extLst>
              <a:ext uri="{FF2B5EF4-FFF2-40B4-BE49-F238E27FC236}">
                <a16:creationId xmlns:a16="http://schemas.microsoft.com/office/drawing/2014/main" id="{15916094-ED54-05E6-59F8-B875E3710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239011"/>
            <a:ext cx="6774426" cy="5079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Income &amp; Financial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2609882" cy="353943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 dirty="0">
                <a:solidFill>
                  <a:srgbClr val="2D3846"/>
                </a:solidFill>
                <a:latin typeface="Aptos"/>
              </a:rPr>
              <a:t>Examine income levels and lending capacity</a:t>
            </a:r>
            <a:endParaRPr lang="en-IN" sz="1030" b="0" dirty="0">
              <a:solidFill>
                <a:srgbClr val="2D3846"/>
              </a:solidFill>
              <a:latin typeface="Aptos"/>
            </a:endParaRPr>
          </a:p>
          <a:p>
            <a:pPr algn="l"/>
            <a:r>
              <a:rPr sz="1030" b="0" dirty="0">
                <a:solidFill>
                  <a:srgbClr val="2D3846"/>
                </a:solidFill>
                <a:latin typeface="Aptos"/>
              </a:rPr>
              <a:t> across customer risk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Average income by risk rating
• Income comparison across employment groups
• Income vs loan amount
• Loan exposure by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Income is compared across risk categories
• Employment adds income context
• Loan exposure can be viewed alongside income
• KPI cards summarize the selected population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Helps assess affordability and financial capacity.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2/16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91AFF6-F183-D3AE-FF10-B5500946A718}"/>
              </a:ext>
            </a:extLst>
          </p:cNvPr>
          <p:cNvSpPr/>
          <p:nvPr/>
        </p:nvSpPr>
        <p:spPr>
          <a:xfrm>
            <a:off x="207608" y="1563623"/>
            <a:ext cx="6906425" cy="47548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ECD396-4251-D32A-7C25-631BDEAE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01" y="1702761"/>
            <a:ext cx="6675132" cy="4259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Assets &amp; Financial Strength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Relate customer assets to risk and lending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Average assets by risk rating
• Assets by loan exposure
• Assets by employment
• Geographic asset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Asset levels are compared across risk groups
• Loan exposure is viewed alongside financial strength
• Employment adds customer-profile context
• Geographic distribution supports exploration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Provides an additional financial-strength perspective.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3/16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CEE974-182A-8FAC-AA5F-3B0B5BD2DB4C}"/>
              </a:ext>
            </a:extLst>
          </p:cNvPr>
          <p:cNvSpPr/>
          <p:nvPr/>
        </p:nvSpPr>
        <p:spPr>
          <a:xfrm>
            <a:off x="78659" y="1229230"/>
            <a:ext cx="7035374" cy="50892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AFA0FFD-678B-70FD-5200-B072F4B0D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5" y="1289304"/>
            <a:ext cx="7035374" cy="49246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Customer Demographics &amp;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Explore customer demographics and their relationship with financial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education level
• Risk by gender
• Risk by marital status
• Dependents and customer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Demographic segments can be compared by risk
• Gender-based risk distribution is visible
• Marital-status groups can be explored
• Customer profile adds context to financial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demographic segmentation of customer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4/16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D62834-CFA7-C127-E319-67992C4BEEEA}"/>
              </a:ext>
            </a:extLst>
          </p:cNvPr>
          <p:cNvSpPr/>
          <p:nvPr/>
        </p:nvSpPr>
        <p:spPr>
          <a:xfrm>
            <a:off x="178111" y="1220824"/>
            <a:ext cx="6949637" cy="49925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30EF46A-4D0A-FF6C-6644-FD6CC5031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98" y="1271016"/>
            <a:ext cx="6949637" cy="48544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Financial Risk Surface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Explore how age, employment, DTI, loan purpose and repayment history interact with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matrix by age and employment
• Average DTI by age group
• Loan amount by purpose
• Default history and credit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Risk can be examined across age and employment
• DTI highlights debt burden
• Loan purpose shows exposure concentration
• Defaults and credit score add repayment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Enables multi-dimensional risk exploration.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5/16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C7146E-2179-366B-6046-84ABBEECBCDF}"/>
              </a:ext>
            </a:extLst>
          </p:cNvPr>
          <p:cNvSpPr/>
          <p:nvPr/>
        </p:nvSpPr>
        <p:spPr>
          <a:xfrm>
            <a:off x="50293" y="1271016"/>
            <a:ext cx="7063739" cy="51389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FF5BEEB-FA8C-9680-D09E-DA60D9C87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1399032"/>
            <a:ext cx="6816888" cy="49194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Loan Portfolio &amp; Purpose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Understand lending exposure across loan purposes and customer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Average loan amount by purpose
• Loan volume comparisons
• Loan exposure by employment
• Geographic loan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Loan amounts differ across purposes
• Portfolio composition can be compared
• Employment adds exposure context
• Geographic views support location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Helps organize loan exposure into interpretable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6/16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A4FAEE-832F-9662-1497-93A0AEF48DE1}"/>
              </a:ext>
            </a:extLst>
          </p:cNvPr>
          <p:cNvSpPr/>
          <p:nvPr/>
        </p:nvSpPr>
        <p:spPr>
          <a:xfrm>
            <a:off x="143403" y="1209564"/>
            <a:ext cx="6970629" cy="510893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B6333A-EF3D-6D53-45F5-59971FF4D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3" y="1353312"/>
            <a:ext cx="7083645" cy="4880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Payment Behavior &amp; Credit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Connect payment behavior and credit history with customer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payment history
• Average credit score by payment history
• Average previous defaults
• Loan exposure by repayment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Payment history differentiates customer segments
• Credit score provides credit-quality context
• Previous defaults add historical risk context
• Loan exposure can be interpreted alongside repayment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repayment-focused customer profiling.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7/16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FF32C7-0F31-55FA-42F6-365EC847F783}"/>
              </a:ext>
            </a:extLst>
          </p:cNvPr>
          <p:cNvSpPr/>
          <p:nvPr/>
        </p:nvSpPr>
        <p:spPr>
          <a:xfrm>
            <a:off x="168279" y="1271016"/>
            <a:ext cx="7073769" cy="51114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08AFAB1-165F-DD78-103F-F4AFF0A7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9" y="1353312"/>
            <a:ext cx="6945753" cy="49651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Credit Quality &amp; 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Analyze credit quality and lending exposure across customer risk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credit-score band
• Average loan by credit score
• Credit score distribution
• Payment history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Credit-quality bands reveal customer segments
• Loan exposure can be compared by credit quality
• Distribution shows the spread of scores
• Payment history complements credit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Provides a credit-focused view of financial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8/16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19116D-2EDD-0C41-FF30-9AE18010AB07}"/>
              </a:ext>
            </a:extLst>
          </p:cNvPr>
          <p:cNvSpPr/>
          <p:nvPr/>
        </p:nvSpPr>
        <p:spPr>
          <a:xfrm>
            <a:off x="117987" y="1152144"/>
            <a:ext cx="7009761" cy="52303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27460CC-1A52-3FD9-5589-65ACA264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8" y="1225296"/>
            <a:ext cx="7036048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High Risk Customer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Drill into the characteristics of customers classified as high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employment status
• Risk by loan purpose
• Average credit score by risk
• Overall risk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High-risk customers can be isolated for review
• Employment and loan purpose add context
• Credit score supports risk comparison
• Overall distribution shows the wider risk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Provides a focused drill-down view for higher-risk customer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9/16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DA43C8-280F-E2C9-C5EB-0241CFBC739A}"/>
              </a:ext>
            </a:extLst>
          </p:cNvPr>
          <p:cNvSpPr/>
          <p:nvPr/>
        </p:nvSpPr>
        <p:spPr>
          <a:xfrm>
            <a:off x="187945" y="1266446"/>
            <a:ext cx="6939803" cy="51434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6D4D00D-B4EE-1300-C8AF-D314C832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1266446"/>
            <a:ext cx="6828897" cy="50520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Employment Stability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Study employment status and job stability as part of financial risk profiling.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employment status
• Average credit score by employment
• Risk by years at current job
• Employment-segment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Employment status can be compared across risk groups
• Credit quality adds financial context
• Job tenure provides stability context
• Employment filters support focused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Adds employment stability as a contextual risk dimension.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10/16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A13C06-9A50-F5F0-AF98-CF4247A84203}"/>
              </a:ext>
            </a:extLst>
          </p:cNvPr>
          <p:cNvSpPr/>
          <p:nvPr/>
        </p:nvSpPr>
        <p:spPr>
          <a:xfrm>
            <a:off x="88491" y="1152144"/>
            <a:ext cx="7025542" cy="51755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3C320CA-1207-B920-CB05-AAC56287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1280160"/>
            <a:ext cx="7052973" cy="49633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Debt-to-Income &amp; Financial Stress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Analyze debt burden and its relationship with financial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Average DTI by risk group
• DTI distribution
• Credit score vs DTI
• Loan amount vs financial stress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DTI provides a direct view of debt burden
• Risk groups can be compared using DTI
• Credit score adds a complementary signal
• Loan exposure can be viewed with financial stress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Makes debt burden easier to compare across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11/16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3A2EFA-496E-AC1B-D939-55B5B6B2C752}"/>
              </a:ext>
            </a:extLst>
          </p:cNvPr>
          <p:cNvSpPr/>
          <p:nvPr/>
        </p:nvSpPr>
        <p:spPr>
          <a:xfrm>
            <a:off x="98323" y="1152144"/>
            <a:ext cx="7029425" cy="52303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C4E812-4EEE-98AB-2032-2C716718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1271016"/>
            <a:ext cx="7079717" cy="50474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Default Risk &amp; Repayment 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Examine previous defaults and repayment-related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previous defaults
• Average loan by default history
• Average credit score by default history
• Risk by employment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Previous defaults provide historical risk context
• Loan exposure can be compared by default history
• Credit score adds credit-quality context
• Employment supports customer segmentation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default-focused risk and repayment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12/16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2AB5B6-2F8D-1DCE-8122-ABF0A4949421}"/>
              </a:ext>
            </a:extLst>
          </p:cNvPr>
          <p:cNvSpPr/>
          <p:nvPr/>
        </p:nvSpPr>
        <p:spPr>
          <a:xfrm>
            <a:off x="108155" y="1271016"/>
            <a:ext cx="7005877" cy="51114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90B49C-6CA5-F6F0-283E-A62DD390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04" y="1353311"/>
            <a:ext cx="7005877" cy="49651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Financial Risk Assessment &amp; Customer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Bring core risk indicators and customer coverage into one analytical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KPI summary and customer coverage
• Risk by loan purpose and employment
• Country-level risk distribution
• Interactive narrative and Q&amp;A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Customer coverage is summarized through KPIs
• Loan purpose and employment reveal segment differences
• Country-level analysis supports comparison
• Multiple views form a connected risk 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Creates a consolidated starting point for risk assessment.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13/16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04D40B-EDB7-C1FA-F4F2-66FFF1454F53}"/>
              </a:ext>
            </a:extLst>
          </p:cNvPr>
          <p:cNvSpPr/>
          <p:nvPr/>
        </p:nvSpPr>
        <p:spPr>
          <a:xfrm>
            <a:off x="128951" y="1152144"/>
            <a:ext cx="6985081" cy="5257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E2E251-DABA-43A1-08BA-ADB42981C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1" y="1197865"/>
            <a:ext cx="6871617" cy="51206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Geographic Risk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Identify how financial risk and exposure vary across geographic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distribution by location
• Average loan amount by geography
• High-risk customer comparisons
• Geographic drill-down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Risk can be compared across locations
• Loan exposure differs by geography
• High-risk concentration can be explored
• Geographic filtering supports targeted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Adds location as a practical risk dimension.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14/16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DC3D6C-8E13-5E75-4DA4-0F41D77DC5E9}"/>
              </a:ext>
            </a:extLst>
          </p:cNvPr>
          <p:cNvSpPr/>
          <p:nvPr/>
        </p:nvSpPr>
        <p:spPr>
          <a:xfrm>
            <a:off x="98323" y="1152145"/>
            <a:ext cx="7029425" cy="50042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733A804-6692-5250-3351-EBED466D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1286845"/>
            <a:ext cx="6921909" cy="50956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Education &amp; Financial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Examine education-related customer segments alongside financial risk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education level
• Average credit score by education
• Average loan amount by education
• Education-level comparisons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Risk patterns can be compared across education groups
• Credit score adds credit-quality context
• Loan exposure differs across segments
• Education adds demographic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demographic segmentation with financial indicators.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15/16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2D21D-1CAA-C052-4206-AA89FB395634}"/>
              </a:ext>
            </a:extLst>
          </p:cNvPr>
          <p:cNvSpPr/>
          <p:nvPr/>
        </p:nvSpPr>
        <p:spPr>
          <a:xfrm>
            <a:off x="106827" y="1152144"/>
            <a:ext cx="7020921" cy="5257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304673B-7EE6-1BA7-E8D1-D3407FC45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7" y="1637923"/>
            <a:ext cx="6970629" cy="46805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2011680" cy="2560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100" b="1">
                <a:solidFill>
                  <a:srgbClr val="0DAEB8"/>
                </a:solidFill>
                <a:latin typeface="Aptos"/>
              </a:rPr>
              <a:t>DASHBOARD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Customer Affordability &amp; Lending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Assess customer affordability by relating income, credit and lending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Average loan by risk
• Loan amount by loan purpose
• DTI vs credit score
• Affordability and loan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Loan exposure can be compared across risk groups
• Purpose shows where lending is concentrated
• DTI and credit score provide affordability context
• Customer segments can be explored interactively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affordability and lending-capacity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16/16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10145B-398F-31AA-8D3F-2D6A597EDBDE}"/>
              </a:ext>
            </a:extLst>
          </p:cNvPr>
          <p:cNvSpPr/>
          <p:nvPr/>
        </p:nvSpPr>
        <p:spPr>
          <a:xfrm>
            <a:off x="50293" y="1152144"/>
            <a:ext cx="7063739" cy="523036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29F148B-7A40-1213-893B-3B9071A5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7" y="1271016"/>
            <a:ext cx="6986015" cy="50474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INTERACTIVE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Core risk assessment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30175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Reported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19456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9680" y="2194560"/>
            <a:ext cx="64008" cy="82296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70848" y="2359152"/>
            <a:ext cx="19659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TOTAL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2633472"/>
            <a:ext cx="19659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127248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3127248"/>
            <a:ext cx="64008" cy="82296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0848" y="3291840"/>
            <a:ext cx="19659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HIGH-RISK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3566160"/>
            <a:ext cx="19659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059936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4059936"/>
            <a:ext cx="64008" cy="82296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0848" y="4224528"/>
            <a:ext cx="19659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CREDIT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4498848"/>
            <a:ext cx="19659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699.09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074920"/>
            <a:ext cx="2456698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Use: quick assessment of overall risk </a:t>
            </a:r>
            <a:endParaRPr lang="en-IN" sz="1100" b="0" dirty="0">
              <a:solidFill>
                <a:srgbClr val="647080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distribution and customer risk patterns.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BE3460-3E90-30F7-AB82-35B648FAF656}"/>
              </a:ext>
            </a:extLst>
          </p:cNvPr>
          <p:cNvSpPr/>
          <p:nvPr/>
        </p:nvSpPr>
        <p:spPr>
          <a:xfrm>
            <a:off x="385718" y="1115568"/>
            <a:ext cx="7661002" cy="52486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102B629-9329-AEF8-A8D3-F434C8789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1239012"/>
            <a:ext cx="8202561" cy="50063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RISK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Predictive pattern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6002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600200"/>
            <a:ext cx="64008" cy="86868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76479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03911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69,909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65176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651760"/>
            <a:ext cx="64008" cy="86868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0808" y="281635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LOAN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309067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27,464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0332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703320"/>
            <a:ext cx="64008" cy="86868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0808" y="3867911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DTI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4142231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0.35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00600"/>
            <a:ext cx="25603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Indicators used for pattern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230368"/>
            <a:ext cx="2560320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22D3D"/>
                </a:solidFill>
                <a:latin typeface="Aptos"/>
              </a:rPr>
              <a:t>Previous defaults
Payment history
Credit score
Debt-to-income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650CCE-D0F3-F90F-DEA6-AF3860853197}"/>
              </a:ext>
            </a:extLst>
          </p:cNvPr>
          <p:cNvSpPr/>
          <p:nvPr/>
        </p:nvSpPr>
        <p:spPr>
          <a:xfrm>
            <a:off x="809465" y="1491063"/>
            <a:ext cx="6906621" cy="4599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5397D7E-BA32-8864-2C9C-C228C5BA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06" y="1367620"/>
            <a:ext cx="7946036" cy="49554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MANAGEMENT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Executive command-center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3017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What management can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2240280" cy="2377440"/>
          </a:xfrm>
          <a:prstGeom prst="rect">
            <a:avLst/>
          </a:prstGeom>
          <a:noFill/>
        </p:spPr>
        <p:txBody>
          <a:bodyPr wrap="none" lIns="45720" r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Overall risk exposure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Loan amount by risk category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Customer composition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Employment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Priority segments for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983480"/>
            <a:ext cx="9144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F9D8B"/>
                </a:solidFill>
                <a:latin typeface="Aptos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285232"/>
            <a:ext cx="316500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Key indicators are centralized in one analytical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A51BE-6607-19E5-C9DA-9F2AA43EE618}"/>
              </a:ext>
            </a:extLst>
          </p:cNvPr>
          <p:cNvSpPr/>
          <p:nvPr/>
        </p:nvSpPr>
        <p:spPr>
          <a:xfrm>
            <a:off x="385718" y="1527049"/>
            <a:ext cx="7843882" cy="4599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2E5DCB-D2DA-71A4-67FD-5D3B1AB3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18" y="1321308"/>
            <a:ext cx="7843881" cy="50429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PROACTIVE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Monitoring, alerting &amp; performance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6002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600200"/>
            <a:ext cx="64008" cy="86868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76479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HIGH-RISK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03911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1,500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65176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651760"/>
            <a:ext cx="64008" cy="86868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0808" y="281635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CUSTOMERS WITH DEFAULTS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309067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12,429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0332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703320"/>
            <a:ext cx="64008" cy="86868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0808" y="3867911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ASSETS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4142231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159,685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46320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Monitoring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03" y="5120640"/>
            <a:ext cx="3530321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Payment behavior • credit-score bands • customer segments • income/assets 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6A0763-C92C-7E76-97EB-4DF725F51DEA}"/>
              </a:ext>
            </a:extLst>
          </p:cNvPr>
          <p:cNvSpPr/>
          <p:nvPr/>
        </p:nvSpPr>
        <p:spPr>
          <a:xfrm>
            <a:off x="900905" y="1321308"/>
            <a:ext cx="6906621" cy="4599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991A172-521D-066C-ADF1-EEFC0E83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6" y="1343406"/>
            <a:ext cx="8106058" cy="49796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Key insights from the completed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257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53035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3474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67712"/>
            <a:ext cx="379476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22D3D"/>
                </a:solidFill>
                <a:latin typeface="Aptos"/>
              </a:rPr>
              <a:t>Duplicates and missing values were addressed before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257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81051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53035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10512"/>
            <a:ext cx="3474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RISK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67712"/>
            <a:ext cx="40690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Income, credit, loan size and DTI were transformed into interpretable bands.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5257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95935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1"/>
            <a:ext cx="53035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59352"/>
            <a:ext cx="3474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RISK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2"/>
            <a:ext cx="366644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Previous defaults, payment history, credit score and DTI support risk-pattern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2578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0" y="395935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96511"/>
            <a:ext cx="53035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959352"/>
            <a:ext cx="3474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4416552"/>
            <a:ext cx="4206241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22D3D"/>
                </a:solidFill>
                <a:latin typeface="Aptos"/>
              </a:rPr>
              <a:t>Interactive dashboards consolidate customer risk, exposure and segment-level views.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3375091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2700" b="1" dirty="0">
                <a:solidFill>
                  <a:srgbClr val="0F1B2D"/>
                </a:solidFill>
                <a:latin typeface="Aptos"/>
              </a:rPr>
              <a:t>Value &amp; F</a:t>
            </a:r>
            <a:r>
              <a:rPr sz="2700" b="1" dirty="0" err="1">
                <a:solidFill>
                  <a:srgbClr val="0F1B2D"/>
                </a:solidFill>
                <a:latin typeface="Aptos"/>
              </a:rPr>
              <a:t>uture</a:t>
            </a:r>
            <a:r>
              <a:rPr sz="2700" b="1" dirty="0">
                <a:solidFill>
                  <a:srgbClr val="0F1B2D"/>
                </a:solidFill>
                <a:latin typeface="Aptos"/>
              </a:rPr>
              <a:t>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47BEAA"/>
                </a:solidFill>
                <a:latin typeface="Aptos"/>
              </a:rPr>
              <a:t>VALUE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678985" cy="2123658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Turns complex financial records into visual risk stories.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Enables faster comparison across customer and loan segments.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Provides drill-down views for high-risk analysis.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Creates a reusable structure for ongoing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F9D8B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39" y="2318325"/>
            <a:ext cx="4333077" cy="23698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D3D"/>
                </a:solidFill>
                <a:latin typeface="Aptos"/>
              </a:defRPr>
            </a:pPr>
            <a:r>
              <a:rPr dirty="0"/>
              <a:t>• Train and validate a dedicated risk-prediction model.</a:t>
            </a:r>
          </a:p>
          <a:p>
            <a:pPr>
              <a:spcAft>
                <a:spcPts val="800"/>
              </a:spcAft>
              <a:defRPr sz="1600">
                <a:solidFill>
                  <a:srgbClr val="222D3D"/>
                </a:solidFill>
                <a:latin typeface="Aptos"/>
              </a:defRPr>
            </a:pPr>
            <a:r>
              <a:rPr dirty="0"/>
              <a:t>• Add automated alerts for threshold-based risk indicators.</a:t>
            </a:r>
          </a:p>
          <a:p>
            <a:pPr>
              <a:spcAft>
                <a:spcPts val="800"/>
              </a:spcAft>
              <a:defRPr sz="1600">
                <a:solidFill>
                  <a:srgbClr val="222D3D"/>
                </a:solidFill>
                <a:latin typeface="Aptos"/>
              </a:defRPr>
            </a:pPr>
            <a:r>
              <a:rPr dirty="0"/>
              <a:t>• Introduce time-based forecasting as new data becomes available.</a:t>
            </a:r>
          </a:p>
          <a:p>
            <a:pPr>
              <a:spcAft>
                <a:spcPts val="800"/>
              </a:spcAft>
              <a:defRPr sz="1600">
                <a:solidFill>
                  <a:srgbClr val="222D3D"/>
                </a:solidFill>
                <a:latin typeface="Aptos"/>
              </a:defRPr>
            </a:pPr>
            <a:r>
              <a:rPr dirty="0"/>
              <a:t>• Expand dashboard drill-through and scenario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166360"/>
            <a:ext cx="443484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ptos"/>
              </a:rPr>
              <a:t>Current work prepares the foundation for these next-stage capabilities.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7BEAA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8138160" cy="685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raw records to risk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1195009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dirty="0">
                <a:solidFill>
                  <a:srgbClr val="CDD8E6"/>
                </a:solidFill>
                <a:latin typeface="Aptos"/>
              </a:rPr>
              <a:t>Across four milestones, the project moved through data understanding, preprocessing, dashboard development and interactive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16,500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06908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AB14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406908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AB14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16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06908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AB14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Risk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AB9CD"/>
                </a:solidFill>
                <a:latin typeface="Aptos"/>
              </a:rPr>
              <a:t>Team 5  •  Praharsha  •  Sindhura  •  Madeeha  •  Santhosh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5943600" cy="685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50292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47BEAA"/>
                </a:solidFill>
                <a:latin typeface="Aptos"/>
              </a:rPr>
              <a:t>Financial Risk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2468</Words>
  <Application>Microsoft Office PowerPoint</Application>
  <PresentationFormat>Widescreen</PresentationFormat>
  <Paragraphs>403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praharsha Konka</cp:lastModifiedBy>
  <cp:revision>6</cp:revision>
  <dcterms:created xsi:type="dcterms:W3CDTF">2013-01-27T09:14:16Z</dcterms:created>
  <dcterms:modified xsi:type="dcterms:W3CDTF">2026-09-21T13:20:45Z</dcterms:modified>
  <cp:category/>
</cp:coreProperties>
</file>