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Oval 2"/>
          <p:cNvSpPr/>
          <p:nvPr/>
        </p:nvSpPr>
        <p:spPr>
          <a:xfrm>
            <a:off x="9966960" y="594360"/>
            <a:ext cx="1143000" cy="1143000"/>
          </a:xfrm>
          <a:prstGeom prst="ellipse">
            <a:avLst/>
          </a:prstGeom>
          <a:solidFill>
            <a:srgbClr val="19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561320" y="1325880"/>
            <a:ext cx="502920" cy="502920"/>
          </a:xfrm>
          <a:prstGeom prst="ellipse">
            <a:avLst/>
          </a:prstGeom>
          <a:solidFill>
            <a:srgbClr val="E7B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326880" y="1554480"/>
            <a:ext cx="320040" cy="3200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8961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Aptos Display"/>
              </a:defRPr>
            </a:pPr>
            <a:r>
              <a:t>FINANCIAL RISK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468880"/>
            <a:ext cx="7955279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DD8E6"/>
                </a:solidFill>
                <a:latin typeface="Aptos"/>
              </a:defRPr>
            </a:pPr>
            <a:r>
              <a:t>Data preprocessing, risk categorization &amp; feature selection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3886200"/>
            <a:ext cx="2468880" cy="457200"/>
          </a:xfrm>
          <a:prstGeom prst="roundRect">
            <a:avLst/>
          </a:prstGeom>
          <a:solidFill>
            <a:srgbClr val="E7B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21D34"/>
                </a:solidFill>
                <a:latin typeface="Aptos"/>
              </a:defRPr>
            </a:pPr>
            <a:r>
              <a:rPr lang="en-IN" dirty="0"/>
              <a:t>INFOSYS-DATA VIS INTERNSHIP</a:t>
            </a:r>
          </a:p>
          <a:p>
            <a:pPr algn="ctr">
              <a:defRPr sz="1100" b="1">
                <a:solidFill>
                  <a:srgbClr val="121D34"/>
                </a:solidFill>
                <a:latin typeface="Aptos"/>
              </a:defRPr>
            </a:pPr>
            <a:r>
              <a:rPr lang="en-IN" dirty="0"/>
              <a:t>MILESTONE-02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749808" y="59893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AB8C9"/>
                </a:solidFill>
                <a:latin typeface="Aptos"/>
              </a:defRPr>
            </a:pPr>
            <a:r>
              <a:t>Financial Risk Analysis | Data Science Project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42DABE2-923E-56F7-98DA-70C69308FB10}"/>
              </a:ext>
            </a:extLst>
          </p:cNvPr>
          <p:cNvSpPr txBox="1"/>
          <p:nvPr/>
        </p:nvSpPr>
        <p:spPr>
          <a:xfrm>
            <a:off x="1504335" y="4758813"/>
            <a:ext cx="656067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highlight>
                  <a:srgbClr val="C0C0C0"/>
                </a:highlight>
              </a:rPr>
              <a:t>Presented by: Praharsha</a:t>
            </a:r>
          </a:p>
          <a:p>
            <a:r>
              <a:rPr lang="en-IN" dirty="0">
                <a:highlight>
                  <a:srgbClr val="C0C0C0"/>
                </a:highlight>
              </a:rPr>
              <a:t>                          Sindhura</a:t>
            </a:r>
          </a:p>
          <a:p>
            <a:r>
              <a:rPr lang="en-IN" dirty="0">
                <a:highlight>
                  <a:srgbClr val="C0C0C0"/>
                </a:highlight>
              </a:rPr>
              <a:t>                          Madeeha</a:t>
            </a:r>
          </a:p>
          <a:p>
            <a:r>
              <a:rPr lang="en-IN" dirty="0">
                <a:highlight>
                  <a:srgbClr val="C0C0C0"/>
                </a:highlight>
              </a:rPr>
              <a:t>                          Santhosh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9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02920" y="347472"/>
            <a:ext cx="1874519" cy="329184"/>
          </a:xfrm>
          <a:prstGeom prst="roundRect">
            <a:avLst/>
          </a:prstGeom>
          <a:solidFill>
            <a:srgbClr val="12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01  DATA PREPARATION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6576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9717E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0467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21D34"/>
                </a:solidFill>
                <a:latin typeface="Aptos Display"/>
              </a:defRPr>
            </a:pPr>
            <a:r>
              <a:t>Dataset Inspection &amp; Initial Data Understanding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353312"/>
            <a:ext cx="107899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9717E"/>
                </a:solidFill>
                <a:latin typeface="Aptos"/>
              </a:defRPr>
            </a:pPr>
            <a:r>
              <a:t>The notebook begins by checking the structure, size and data types of the financial dataset.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272784"/>
            <a:ext cx="6583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69717E"/>
                </a:solidFill>
                <a:latin typeface="Aptos"/>
              </a:defRPr>
            </a:pPr>
            <a:r>
              <a:rPr dirty="0"/>
              <a:t>df.info() — 16,500 records and 20 original columns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2360" y="1920240"/>
            <a:ext cx="406908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2A313D"/>
                </a:solidFill>
                <a:latin typeface="Aptos"/>
              </a:defRPr>
            </a:pPr>
            <a:r>
              <a:t>• The dataset contains 16,500 records across 20 columns.</a:t>
            </a:r>
          </a:p>
          <a:p>
            <a:pPr>
              <a:spcAft>
                <a:spcPts val="1200"/>
              </a:spcAft>
              <a:defRPr sz="1400">
                <a:solidFill>
                  <a:srgbClr val="2A313D"/>
                </a:solidFill>
                <a:latin typeface="Aptos"/>
              </a:defRPr>
            </a:pPr>
            <a:r>
              <a:t>• Financial variables include income, credit score, loan amount, assets and debt-to-income ratio.</a:t>
            </a:r>
          </a:p>
          <a:p>
            <a:pPr>
              <a:spcAft>
                <a:spcPts val="1200"/>
              </a:spcAft>
              <a:defRPr sz="1400">
                <a:solidFill>
                  <a:srgbClr val="2A313D"/>
                </a:solidFill>
                <a:latin typeface="Aptos"/>
              </a:defRPr>
            </a:pPr>
            <a:r>
              <a:t>• Categorical fields include gender, education, employment, payment history and risk rating.</a:t>
            </a:r>
          </a:p>
          <a:p>
            <a:pPr>
              <a:spcAft>
                <a:spcPts val="1200"/>
              </a:spcAft>
              <a:defRPr sz="1400">
                <a:solidFill>
                  <a:srgbClr val="2A313D"/>
                </a:solidFill>
                <a:latin typeface="Aptos"/>
              </a:defRPr>
            </a:pPr>
            <a:r>
              <a:t>• Missing values are visible in several numeric fields and must be handled before analysis.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3F79CB1-4434-A736-4DCA-804704FAE4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9233" y="1581913"/>
            <a:ext cx="5162406" cy="457111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9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02920" y="347472"/>
            <a:ext cx="1874519" cy="329184"/>
          </a:xfrm>
          <a:prstGeom prst="roundRect">
            <a:avLst/>
          </a:prstGeom>
          <a:solidFill>
            <a:srgbClr val="12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02  DATA QUALITY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6576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9717E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0467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21D34"/>
                </a:solidFill>
                <a:latin typeface="Aptos Display"/>
              </a:defRPr>
            </a:pPr>
            <a:r>
              <a:t>Identifying Numeric &amp; Categorical Variables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353312"/>
            <a:ext cx="107899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9717E"/>
                </a:solidFill>
                <a:latin typeface="Aptos"/>
              </a:defRPr>
            </a:pPr>
            <a:r>
              <a:t>Columns are separated by datatype so each group can be processed correctly.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044952"/>
            <a:ext cx="5349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69717E"/>
                </a:solidFill>
                <a:latin typeface="Aptos"/>
              </a:defRPr>
            </a:pPr>
            <a:r>
              <a:t>Numeric / float columns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3044952"/>
            <a:ext cx="5349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69717E"/>
                </a:solidFill>
                <a:latin typeface="Aptos"/>
              </a:defRPr>
            </a:pPr>
            <a:r>
              <a:t>Categorical / object columns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337560"/>
            <a:ext cx="34747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tlCol="0" anchor="ctr"/>
          <a:lstStyle/>
          <a:p>
            <a:pPr algn="ctr">
              <a:defRPr sz="1300" b="1">
                <a:solidFill>
                  <a:srgbClr val="121D34"/>
                </a:solidFill>
                <a:latin typeface="Aptos"/>
              </a:defRPr>
            </a:pPr>
            <a:r>
              <a:t>Numeric variables</a:t>
            </a:r>
          </a:p>
          <a:p>
            <a:pPr>
              <a:defRPr sz="1050">
                <a:solidFill>
                  <a:srgbClr val="69717E"/>
                </a:solidFill>
                <a:latin typeface="Aptos"/>
              </a:defRPr>
            </a:pPr>
            <a:r>
              <a:t>Income, credit score, loan amount, DTI, assets, dependents and previous defaults.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3337560"/>
            <a:ext cx="64008" cy="1325880"/>
          </a:xfrm>
          <a:prstGeom prst="rect">
            <a:avLst/>
          </a:prstGeom>
          <a:solidFill>
            <a:srgbClr val="19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389120" y="3337560"/>
            <a:ext cx="34747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tlCol="0" anchor="ctr"/>
          <a:lstStyle/>
          <a:p>
            <a:pPr algn="ctr">
              <a:defRPr sz="1300" b="1">
                <a:solidFill>
                  <a:srgbClr val="121D34"/>
                </a:solidFill>
                <a:latin typeface="Aptos"/>
              </a:defRPr>
            </a:pPr>
            <a:r>
              <a:t>Categorical variables</a:t>
            </a:r>
          </a:p>
          <a:p>
            <a:pPr>
              <a:defRPr sz="1050">
                <a:solidFill>
                  <a:srgbClr val="69717E"/>
                </a:solidFill>
                <a:latin typeface="Aptos"/>
              </a:defRPr>
            </a:pPr>
            <a:r>
              <a:t>Gender, education, marital status, loan purpose, employment, payment history and risk rating.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89120" y="3337560"/>
            <a:ext cx="64008" cy="1325880"/>
          </a:xfrm>
          <a:prstGeom prst="rect">
            <a:avLst/>
          </a:prstGeom>
          <a:solidFill>
            <a:srgbClr val="E7B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092440" y="3337560"/>
            <a:ext cx="34747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tlCol="0" anchor="ctr"/>
          <a:lstStyle/>
          <a:p>
            <a:pPr algn="ctr">
              <a:defRPr sz="1300" b="1">
                <a:solidFill>
                  <a:srgbClr val="121D34"/>
                </a:solidFill>
                <a:latin typeface="Aptos"/>
              </a:defRPr>
            </a:pPr>
            <a:r>
              <a:t>Why this matters</a:t>
            </a:r>
          </a:p>
          <a:p>
            <a:pPr>
              <a:defRPr sz="1050">
                <a:solidFill>
                  <a:srgbClr val="69717E"/>
                </a:solidFill>
                <a:latin typeface="Aptos"/>
              </a:defRPr>
            </a:pPr>
            <a:r>
              <a:t>Different data types require different cleaning, transformation and encoding methods.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92440" y="3337560"/>
            <a:ext cx="64008" cy="1325880"/>
          </a:xfrm>
          <a:prstGeom prst="rect">
            <a:avLst/>
          </a:prstGeom>
          <a:solidFill>
            <a:srgbClr val="12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507492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>
                <a:solidFill>
                  <a:srgbClr val="2A313D"/>
                </a:solidFill>
                <a:latin typeface="Aptos"/>
              </a:defRPr>
            </a:pPr>
            <a:r>
              <a:t>• Separating the columns prevents inappropriate transformations.</a:t>
            </a:r>
          </a:p>
          <a:p>
            <a:pPr>
              <a:spcAft>
                <a:spcPts val="1200"/>
              </a:spcAft>
              <a:defRPr sz="1300">
                <a:solidFill>
                  <a:srgbClr val="2A313D"/>
                </a:solidFill>
                <a:latin typeface="Aptos"/>
              </a:defRPr>
            </a:pPr>
            <a:r>
              <a:t>• It also prepares the dataset for later feature engineering and machine-learning steps.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D0D67216-1870-A7A9-9361-56D7E8173D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5" y="1750248"/>
            <a:ext cx="5752176" cy="1166688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FD11EB89-5BCD-04B2-6FB1-2B1AD0F918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8400" y="1605394"/>
            <a:ext cx="5460200" cy="142964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9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02920" y="347472"/>
            <a:ext cx="1874519" cy="329184"/>
          </a:xfrm>
          <a:prstGeom prst="roundRect">
            <a:avLst/>
          </a:prstGeom>
          <a:solidFill>
            <a:srgbClr val="12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03  TYPE CONVERSION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6576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9717E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0467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21D34"/>
                </a:solidFill>
                <a:latin typeface="Aptos Display"/>
              </a:defRPr>
            </a:pPr>
            <a:r>
              <a:t>Converting Columns to Consistent Data Types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353312"/>
            <a:ext cx="107899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9717E"/>
                </a:solidFill>
                <a:latin typeface="Aptos"/>
              </a:defRPr>
            </a:pPr>
            <a:r>
              <a:t>Explicit type conversion ensures reliable mathematical operations and model inputs.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782841"/>
            <a:ext cx="5394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69717E"/>
                </a:solidFill>
                <a:latin typeface="Aptos"/>
              </a:defRPr>
            </a:pPr>
            <a:r>
              <a:rPr dirty="0"/>
              <a:t>Integer columns converted using </a:t>
            </a:r>
            <a:r>
              <a:rPr dirty="0" err="1"/>
              <a:t>astype</a:t>
            </a:r>
            <a:r>
              <a:rPr dirty="0"/>
              <a:t>(int)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3730752"/>
            <a:ext cx="5394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69717E"/>
                </a:solidFill>
                <a:latin typeface="Aptos"/>
              </a:defRPr>
            </a:pPr>
            <a:r>
              <a:t>Financial numeric columns converted using astype(float)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06908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2A313D"/>
                </a:solidFill>
                <a:latin typeface="Aptos"/>
              </a:defRPr>
            </a:pPr>
            <a:r>
              <a:t>• Age, years at current job and marital-status change are stored as integers.</a:t>
            </a:r>
          </a:p>
          <a:p>
            <a:pPr>
              <a:spcAft>
                <a:spcPts val="1200"/>
              </a:spcAft>
              <a:defRPr sz="1500">
                <a:solidFill>
                  <a:srgbClr val="2A313D"/>
                </a:solidFill>
                <a:latin typeface="Aptos"/>
              </a:defRPr>
            </a:pPr>
            <a:r>
              <a:t>• Income, credit score, loan amount, DTI, assets, dependents and previous defaults are treated as numeric values.</a:t>
            </a:r>
          </a:p>
          <a:p>
            <a:pPr>
              <a:spcAft>
                <a:spcPts val="1200"/>
              </a:spcAft>
              <a:defRPr sz="1500">
                <a:solidFill>
                  <a:srgbClr val="2A313D"/>
                </a:solidFill>
                <a:latin typeface="Aptos"/>
              </a:defRPr>
            </a:pPr>
            <a:r>
              <a:t>• Consistent types reduce calculation errors and make downstream analysis more dependable.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697736E-36E4-6021-A2AB-5846371CD9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728" y="1657197"/>
            <a:ext cx="4820323" cy="217200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57DC78C-55FB-176D-EE73-77EA4C1BFD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5441" y="1299934"/>
            <a:ext cx="3972559" cy="239881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9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02920" y="347472"/>
            <a:ext cx="1874519" cy="329184"/>
          </a:xfrm>
          <a:prstGeom prst="roundRect">
            <a:avLst/>
          </a:prstGeom>
          <a:solidFill>
            <a:srgbClr val="12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04  RISK CATEGORIZATION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6576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9717E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0467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21D34"/>
                </a:solidFill>
                <a:latin typeface="Aptos Display"/>
              </a:defRPr>
            </a:pPr>
            <a:r>
              <a:t>Creating Risk-Oriented Categories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353312"/>
            <a:ext cx="107899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9717E"/>
                </a:solidFill>
                <a:latin typeface="Aptos"/>
              </a:defRPr>
            </a:pPr>
            <a:r>
              <a:t>Continuous financial variables are transformed into meaningful bands for easier interpretation.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029200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50">
                <a:solidFill>
                  <a:srgbClr val="2A313D"/>
                </a:solidFill>
                <a:latin typeface="Aptos"/>
              </a:defRPr>
            </a:pPr>
            <a:r>
              <a:t>• Income and loan size are divided into Low, Medium, High and Very High groups.</a:t>
            </a:r>
          </a:p>
          <a:p>
            <a:pPr>
              <a:spcAft>
                <a:spcPts val="1200"/>
              </a:spcAft>
              <a:defRPr sz="1250">
                <a:solidFill>
                  <a:srgbClr val="2A313D"/>
                </a:solidFill>
                <a:latin typeface="Aptos"/>
              </a:defRPr>
            </a:pPr>
            <a:r>
              <a:t>• Credit score is grouped from Poor to Excellent.</a:t>
            </a:r>
          </a:p>
          <a:p>
            <a:pPr>
              <a:spcAft>
                <a:spcPts val="1200"/>
              </a:spcAft>
              <a:defRPr sz="1250">
                <a:solidFill>
                  <a:srgbClr val="2A313D"/>
                </a:solidFill>
                <a:latin typeface="Aptos"/>
              </a:defRPr>
            </a:pPr>
            <a:r>
              <a:t>• DTI is grouped by increasing debt burden, making financial stress easier to compare.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42750E0D-2AEB-923B-8B8C-20F169151C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8172" y="1754865"/>
            <a:ext cx="6962453" cy="303293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9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02920" y="347472"/>
            <a:ext cx="1874519" cy="329184"/>
          </a:xfrm>
          <a:prstGeom prst="roundRect">
            <a:avLst/>
          </a:prstGeom>
          <a:solidFill>
            <a:srgbClr val="12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dirty="0"/>
              <a:t>0</a:t>
            </a:r>
            <a:r>
              <a:rPr lang="en-IN" dirty="0"/>
              <a:t>5</a:t>
            </a:r>
            <a:r>
              <a:rPr dirty="0"/>
              <a:t>  OUTLIER HANDLING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6576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9717E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0467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21D34"/>
                </a:solidFill>
                <a:latin typeface="Aptos Display"/>
              </a:defRPr>
            </a:pPr>
            <a:r>
              <a:t>Debt-to-Income Ratio: Risk Banding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353312"/>
            <a:ext cx="107899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9717E"/>
                </a:solidFill>
                <a:latin typeface="Aptos"/>
              </a:defRPr>
            </a:pPr>
            <a:r>
              <a:t>The selected notebook step converts DTI values into interpretable risk levels.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913631"/>
            <a:ext cx="6583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69717E"/>
                </a:solidFill>
                <a:latin typeface="Aptos"/>
              </a:defRPr>
            </a:pPr>
            <a:r>
              <a:t>DTI thresholds used in the notebook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43800" y="1874519"/>
            <a:ext cx="38862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tlCol="0" anchor="ctr"/>
          <a:lstStyle/>
          <a:p>
            <a:pPr algn="ctr">
              <a:defRPr sz="1300" b="1">
                <a:solidFill>
                  <a:srgbClr val="121D34"/>
                </a:solidFill>
                <a:latin typeface="Aptos"/>
              </a:defRPr>
            </a:pPr>
            <a:r>
              <a:t>Low</a:t>
            </a:r>
          </a:p>
          <a:p>
            <a:pPr>
              <a:defRPr sz="1050">
                <a:solidFill>
                  <a:srgbClr val="69717E"/>
                </a:solidFill>
                <a:latin typeface="Aptos"/>
              </a:defRPr>
            </a:pPr>
            <a:r>
              <a:t>DTI &lt; 0.20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43800" y="1874519"/>
            <a:ext cx="64008" cy="914400"/>
          </a:xfrm>
          <a:prstGeom prst="rect">
            <a:avLst/>
          </a:prstGeom>
          <a:solidFill>
            <a:srgbClr val="3891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543800" y="2926080"/>
            <a:ext cx="38862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tlCol="0" anchor="ctr"/>
          <a:lstStyle/>
          <a:p>
            <a:pPr algn="ctr">
              <a:defRPr sz="1300" b="1">
                <a:solidFill>
                  <a:srgbClr val="121D34"/>
                </a:solidFill>
                <a:latin typeface="Aptos"/>
              </a:defRPr>
            </a:pPr>
            <a:r>
              <a:t>Medium</a:t>
            </a:r>
          </a:p>
          <a:p>
            <a:pPr>
              <a:defRPr sz="1050">
                <a:solidFill>
                  <a:srgbClr val="69717E"/>
                </a:solidFill>
                <a:latin typeface="Aptos"/>
              </a:defRPr>
            </a:pPr>
            <a:r>
              <a:t>0.20 ≤ DTI &lt; 0.36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43800" y="2926080"/>
            <a:ext cx="64008" cy="914400"/>
          </a:xfrm>
          <a:prstGeom prst="rect">
            <a:avLst/>
          </a:prstGeom>
          <a:solidFill>
            <a:srgbClr val="E7B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543800" y="3977639"/>
            <a:ext cx="38862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tlCol="0" anchor="ctr"/>
          <a:lstStyle/>
          <a:p>
            <a:pPr algn="ctr">
              <a:defRPr sz="1300" b="1">
                <a:solidFill>
                  <a:srgbClr val="121D34"/>
                </a:solidFill>
                <a:latin typeface="Aptos"/>
              </a:defRPr>
            </a:pPr>
            <a:r>
              <a:t>High</a:t>
            </a:r>
          </a:p>
          <a:p>
            <a:pPr>
              <a:defRPr sz="1050">
                <a:solidFill>
                  <a:srgbClr val="69717E"/>
                </a:solidFill>
                <a:latin typeface="Aptos"/>
              </a:defRPr>
            </a:pPr>
            <a:r>
              <a:t>0.36 ≤ DTI &lt; 0.50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43800" y="3977639"/>
            <a:ext cx="64008" cy="914400"/>
          </a:xfrm>
          <a:prstGeom prst="rect">
            <a:avLst/>
          </a:prstGeom>
          <a:solidFill>
            <a:srgbClr val="DC7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543800" y="5029200"/>
            <a:ext cx="38862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tlCol="0" anchor="ctr"/>
          <a:lstStyle/>
          <a:p>
            <a:pPr algn="ctr">
              <a:defRPr sz="1300" b="1">
                <a:solidFill>
                  <a:srgbClr val="121D34"/>
                </a:solidFill>
                <a:latin typeface="Aptos"/>
              </a:defRPr>
            </a:pPr>
            <a:r>
              <a:t>Very High</a:t>
            </a:r>
          </a:p>
          <a:p>
            <a:pPr>
              <a:defRPr sz="1050">
                <a:solidFill>
                  <a:srgbClr val="69717E"/>
                </a:solidFill>
                <a:latin typeface="Aptos"/>
              </a:defRPr>
            </a:pPr>
            <a:r>
              <a:t>DTI ≥ 0.50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543800" y="5029200"/>
            <a:ext cx="64008" cy="914400"/>
          </a:xfrm>
          <a:prstGeom prst="rect">
            <a:avLst/>
          </a:prstGeom>
          <a:solidFill>
            <a:srgbClr val="C6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5800" y="4160520"/>
            <a:ext cx="6446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50">
                <a:solidFill>
                  <a:srgbClr val="2A313D"/>
                </a:solidFill>
                <a:latin typeface="Aptos"/>
              </a:defRPr>
            </a:pPr>
            <a:r>
              <a:t>• A higher DTI indicates a larger proportion of income committed to debt obligations.</a:t>
            </a:r>
          </a:p>
          <a:p>
            <a:pPr>
              <a:spcAft>
                <a:spcPts val="1200"/>
              </a:spcAft>
              <a:defRPr sz="1350">
                <a:solidFill>
                  <a:srgbClr val="2A313D"/>
                </a:solidFill>
                <a:latin typeface="Aptos"/>
              </a:defRPr>
            </a:pPr>
            <a:r>
              <a:t>• The categorical DTI feature makes risk communication simpler and supports later modeling.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54F65D13-DE30-FD4A-C08E-13E9C366AF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1536" y="1792224"/>
            <a:ext cx="5080729" cy="208458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9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02920" y="347472"/>
            <a:ext cx="1874519" cy="329184"/>
          </a:xfrm>
          <a:prstGeom prst="roundRect">
            <a:avLst/>
          </a:prstGeom>
          <a:solidFill>
            <a:srgbClr val="12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dirty="0"/>
              <a:t>0</a:t>
            </a:r>
            <a:r>
              <a:rPr lang="en-IN" dirty="0"/>
              <a:t>6</a:t>
            </a:r>
            <a:r>
              <a:rPr dirty="0"/>
              <a:t>  CATEGORICAL ENCODING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6576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9717E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0467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21D34"/>
                </a:solidFill>
                <a:latin typeface="Aptos Display"/>
              </a:defRPr>
            </a:pPr>
            <a:r>
              <a:t>Encoding Categorical Variables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353312"/>
            <a:ext cx="107899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9717E"/>
                </a:solidFill>
                <a:latin typeface="Aptos"/>
              </a:defRPr>
            </a:pPr>
            <a:r>
              <a:t>Text-based financial attributes are converted into numerical representations for machine learning.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-251461" y="4145261"/>
            <a:ext cx="5257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69717E"/>
                </a:solidFill>
                <a:latin typeface="Aptos"/>
              </a:defRPr>
            </a:pPr>
            <a:r>
              <a:rPr dirty="0" err="1"/>
              <a:t>pd.get_dummies</a:t>
            </a:r>
            <a:r>
              <a:rPr dirty="0"/>
              <a:t>() applied to categorical columns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343400"/>
            <a:ext cx="1069848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 err="1">
                <a:latin typeface="Aptos "/>
              </a:rPr>
              <a:t>pd.get_dummies</a:t>
            </a:r>
            <a:r>
              <a:rPr lang="en-IN" sz="1400" dirty="0">
                <a:latin typeface="Aptos "/>
              </a:rPr>
              <a:t>() is used to encode categorical features.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ptos "/>
              </a:rPr>
              <a:t>Features such as </a:t>
            </a:r>
            <a:r>
              <a:rPr lang="en-IN" sz="1400" b="1" dirty="0">
                <a:latin typeface="Aptos "/>
              </a:rPr>
              <a:t>gender, education level, marital status, loan purpose, employment status, payment history, location, and risk rating</a:t>
            </a:r>
            <a:r>
              <a:rPr lang="en-IN" sz="1400" dirty="0">
                <a:latin typeface="Aptos "/>
              </a:rPr>
              <a:t> are encoded.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ptos "/>
              </a:rPr>
              <a:t>Each category is converted into </a:t>
            </a:r>
            <a:r>
              <a:rPr lang="en-IN" sz="1400" b="1" dirty="0">
                <a:latin typeface="Aptos "/>
              </a:rPr>
              <a:t>binary (0/1) indicator columns</a:t>
            </a:r>
            <a:r>
              <a:rPr lang="en-IN" sz="1400" dirty="0">
                <a:latin typeface="Aptos "/>
              </a:rPr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ptos "/>
              </a:rPr>
              <a:t>This transformation makes categorical data suitable for </a:t>
            </a:r>
            <a:r>
              <a:rPr lang="en-IN" sz="1400" b="1" dirty="0">
                <a:latin typeface="Aptos "/>
              </a:rPr>
              <a:t>machine learning and financial risk prediction</a:t>
            </a:r>
            <a:r>
              <a:rPr lang="en-IN" sz="1400" dirty="0">
                <a:latin typeface="Aptos "/>
              </a:rPr>
              <a:t>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EF1716D-CFE2-EF59-C9BB-6CE8DF5C52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728" y="1610670"/>
            <a:ext cx="2624722" cy="246887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70A989E-E9F0-E25E-B426-5C9C3DB435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6298" y="1905358"/>
            <a:ext cx="6949148" cy="203229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9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02920" y="347472"/>
            <a:ext cx="1874519" cy="329184"/>
          </a:xfrm>
          <a:prstGeom prst="roundRect">
            <a:avLst/>
          </a:prstGeom>
          <a:solidFill>
            <a:srgbClr val="12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dirty="0"/>
              <a:t>0</a:t>
            </a:r>
            <a:r>
              <a:rPr lang="en-IN" dirty="0"/>
              <a:t>7</a:t>
            </a:r>
            <a:r>
              <a:rPr dirty="0"/>
              <a:t>  FEATURE SELECTION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6576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9717E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0467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21D34"/>
                </a:solidFill>
                <a:latin typeface="Aptos Display"/>
              </a:defRPr>
            </a:pPr>
            <a:r>
              <a:t>Feature Selection &amp; Dataset Simplification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353312"/>
            <a:ext cx="107899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9717E"/>
                </a:solidFill>
                <a:latin typeface="Aptos"/>
              </a:defRPr>
            </a:pPr>
            <a:r>
              <a:t>Irrelevant or redundant fields are removed to create a cleaner modeling dataset.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206240"/>
            <a:ext cx="6675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69717E"/>
                </a:solidFill>
                <a:latin typeface="Aptos"/>
              </a:defRPr>
            </a:pPr>
            <a:r>
              <a:rPr lang="en-IN" dirty="0" err="1"/>
              <a:t>marital_status_change</a:t>
            </a:r>
            <a:r>
              <a:rPr lang="en-IN" dirty="0"/>
              <a:t> removed before </a:t>
            </a:r>
            <a:r>
              <a:rPr lang="en-IN" dirty="0" err="1"/>
              <a:t>modeling</a:t>
            </a:r>
            <a:endParaRPr lang="en-IN" dirty="0"/>
          </a:p>
        </p:txBody>
      </p:sp>
      <p:sp>
        <p:nvSpPr>
          <p:cNvPr id="11" name="Rounded Rectangle 10"/>
          <p:cNvSpPr/>
          <p:nvPr/>
        </p:nvSpPr>
        <p:spPr>
          <a:xfrm>
            <a:off x="7543800" y="1828800"/>
            <a:ext cx="38404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tlCol="0" anchor="ctr"/>
          <a:lstStyle/>
          <a:p>
            <a:pPr algn="ctr">
              <a:defRPr sz="1300" b="1">
                <a:solidFill>
                  <a:srgbClr val="121D34"/>
                </a:solidFill>
                <a:latin typeface="Aptos"/>
              </a:defRPr>
            </a:pPr>
            <a:r>
              <a:t>Example removal</a:t>
            </a:r>
          </a:p>
          <a:p>
            <a:pPr>
              <a:defRPr sz="1050">
                <a:solidFill>
                  <a:srgbClr val="69717E"/>
                </a:solidFill>
                <a:latin typeface="Aptos"/>
              </a:defRPr>
            </a:pPr>
            <a:r>
              <a:t>df.drop("marital_status_change", axis=1)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43800" y="1828800"/>
            <a:ext cx="64008" cy="1051560"/>
          </a:xfrm>
          <a:prstGeom prst="rect">
            <a:avLst/>
          </a:prstGeom>
          <a:solidFill>
            <a:srgbClr val="C6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543800" y="3063240"/>
            <a:ext cx="38404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tlCol="0" anchor="ctr"/>
          <a:lstStyle/>
          <a:p>
            <a:pPr algn="ctr">
              <a:defRPr sz="1300" b="1">
                <a:solidFill>
                  <a:srgbClr val="121D34"/>
                </a:solidFill>
                <a:latin typeface="Aptos"/>
              </a:defRPr>
            </a:pPr>
            <a:r>
              <a:t>Result</a:t>
            </a:r>
          </a:p>
          <a:p>
            <a:pPr>
              <a:defRPr sz="1050">
                <a:solidFill>
                  <a:srgbClr val="69717E"/>
                </a:solidFill>
                <a:latin typeface="Aptos"/>
              </a:defRPr>
            </a:pPr>
            <a:r>
              <a:t>The remaining columns focus on useful financial, demographic and risk indicators.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43800" y="3063240"/>
            <a:ext cx="64008" cy="1051560"/>
          </a:xfrm>
          <a:prstGeom prst="rect">
            <a:avLst/>
          </a:prstGeom>
          <a:solidFill>
            <a:srgbClr val="19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434340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2A313D"/>
                </a:solidFill>
                <a:latin typeface="Aptos"/>
              </a:defRPr>
            </a:pPr>
            <a:r>
              <a:rPr dirty="0"/>
              <a:t>• Removing unnecessary variables reduces noise and unnecessary model complexity.</a:t>
            </a:r>
          </a:p>
          <a:p>
            <a:pPr>
              <a:spcAft>
                <a:spcPts val="1200"/>
              </a:spcAft>
              <a:defRPr sz="1400">
                <a:solidFill>
                  <a:srgbClr val="2A313D"/>
                </a:solidFill>
                <a:latin typeface="Aptos"/>
              </a:defRPr>
            </a:pPr>
            <a:r>
              <a:rPr dirty="0"/>
              <a:t>• The resulting feature set includes age, income, credit score, loan amount, DTI, assets, dependents, previous defaults and engineered risk features.</a:t>
            </a:r>
          </a:p>
          <a:p>
            <a:pPr>
              <a:spcAft>
                <a:spcPts val="1200"/>
              </a:spcAft>
              <a:defRPr sz="1400">
                <a:solidFill>
                  <a:srgbClr val="2A313D"/>
                </a:solidFill>
                <a:latin typeface="Aptos"/>
              </a:defRPr>
            </a:pPr>
            <a:r>
              <a:rPr dirty="0"/>
              <a:t>• Feature selection helps improve interpretability and can support more efficient modeling.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511E2E2C-F3EB-CDA9-9C8F-9237066413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7123" y="1669938"/>
            <a:ext cx="5227656" cy="255412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9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02920" y="347472"/>
            <a:ext cx="1874519" cy="329184"/>
          </a:xfrm>
          <a:prstGeom prst="roundRect">
            <a:avLst/>
          </a:prstGeom>
          <a:solidFill>
            <a:srgbClr val="12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dirty="0"/>
              <a:t>0</a:t>
            </a:r>
            <a:r>
              <a:rPr lang="en-IN" dirty="0"/>
              <a:t>8</a:t>
            </a:r>
            <a:r>
              <a:rPr dirty="0"/>
              <a:t>  END-TO-END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6576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9717E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0467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21D34"/>
                </a:solidFill>
                <a:latin typeface="Aptos Display"/>
              </a:defRPr>
            </a:pPr>
            <a:r>
              <a:t>Financial Risk Analysis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353312"/>
            <a:ext cx="107899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9717E"/>
                </a:solidFill>
                <a:latin typeface="Aptos"/>
              </a:defRPr>
            </a:pPr>
            <a:r>
              <a:t>The screenshots demonstrate a complete preprocessing flow from raw records to model-ready risk features.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057400"/>
            <a:ext cx="19659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1051560" rIns="137160" rtlCol="0" anchor="ctr"/>
          <a:lstStyle/>
          <a:p>
            <a:pPr algn="ctr">
              <a:defRPr sz="1500" b="1">
                <a:solidFill>
                  <a:srgbClr val="121D34"/>
                </a:solidFill>
                <a:latin typeface="Aptos"/>
              </a:defRPr>
            </a:pPr>
            <a:r>
              <a:t>Inspect</a:t>
            </a:r>
          </a:p>
          <a:p>
            <a:pPr algn="ctr">
              <a:defRPr sz="1050">
                <a:solidFill>
                  <a:srgbClr val="69717E"/>
                </a:solidFill>
                <a:latin typeface="Aptos"/>
              </a:defRPr>
            </a:pPr>
            <a:r>
              <a:t>Understand rows, columns, missing values and data types.</a:t>
            </a:r>
          </a:p>
        </p:txBody>
      </p:sp>
      <p:sp>
        <p:nvSpPr>
          <p:cNvPr id="9" name="Oval 8"/>
          <p:cNvSpPr/>
          <p:nvPr/>
        </p:nvSpPr>
        <p:spPr>
          <a:xfrm>
            <a:off x="1252728" y="2286000"/>
            <a:ext cx="640080" cy="640080"/>
          </a:xfrm>
          <a:prstGeom prst="ellipse">
            <a:avLst/>
          </a:prstGeom>
          <a:solidFill>
            <a:srgbClr val="19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80360" y="2057400"/>
            <a:ext cx="19659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1051560" rIns="137160" rtlCol="0" anchor="ctr"/>
          <a:lstStyle/>
          <a:p>
            <a:pPr algn="ctr">
              <a:defRPr sz="1500" b="1">
                <a:solidFill>
                  <a:srgbClr val="121D34"/>
                </a:solidFill>
                <a:latin typeface="Aptos"/>
              </a:defRPr>
            </a:pPr>
            <a:r>
              <a:t>Clean</a:t>
            </a:r>
          </a:p>
          <a:p>
            <a:pPr algn="ctr">
              <a:defRPr sz="1050">
                <a:solidFill>
                  <a:srgbClr val="69717E"/>
                </a:solidFill>
                <a:latin typeface="Aptos"/>
              </a:defRPr>
            </a:pPr>
            <a:r>
              <a:t>Handle missing values and standardize numeric fields.</a:t>
            </a:r>
          </a:p>
        </p:txBody>
      </p:sp>
      <p:sp>
        <p:nvSpPr>
          <p:cNvPr id="11" name="Oval 10"/>
          <p:cNvSpPr/>
          <p:nvPr/>
        </p:nvSpPr>
        <p:spPr>
          <a:xfrm>
            <a:off x="3538728" y="2286000"/>
            <a:ext cx="640080" cy="640080"/>
          </a:xfrm>
          <a:prstGeom prst="ellipse">
            <a:avLst/>
          </a:prstGeom>
          <a:solidFill>
            <a:srgbClr val="E7B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66360" y="2057400"/>
            <a:ext cx="19659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1051560" rIns="137160" rtlCol="0" anchor="ctr"/>
          <a:lstStyle/>
          <a:p>
            <a:pPr algn="ctr">
              <a:defRPr sz="1500" b="1">
                <a:solidFill>
                  <a:srgbClr val="121D34"/>
                </a:solidFill>
                <a:latin typeface="Aptos"/>
              </a:defRPr>
            </a:pPr>
            <a:r>
              <a:t>Categorize</a:t>
            </a:r>
          </a:p>
          <a:p>
            <a:pPr algn="ctr">
              <a:defRPr sz="1050">
                <a:solidFill>
                  <a:srgbClr val="69717E"/>
                </a:solidFill>
                <a:latin typeface="Aptos"/>
              </a:defRPr>
            </a:pPr>
            <a:r>
              <a:t>Create income, credit, loan, DTI and profile risk bands.</a:t>
            </a:r>
          </a:p>
        </p:txBody>
      </p:sp>
      <p:sp>
        <p:nvSpPr>
          <p:cNvPr id="13" name="Oval 12"/>
          <p:cNvSpPr/>
          <p:nvPr/>
        </p:nvSpPr>
        <p:spPr>
          <a:xfrm>
            <a:off x="5824728" y="2286000"/>
            <a:ext cx="640080" cy="640080"/>
          </a:xfrm>
          <a:prstGeom prst="ellipse">
            <a:avLst/>
          </a:prstGeom>
          <a:solidFill>
            <a:srgbClr val="5A8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52360" y="2057400"/>
            <a:ext cx="19659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1051560" rIns="137160" rtlCol="0" anchor="ctr"/>
          <a:lstStyle/>
          <a:p>
            <a:pPr algn="ctr">
              <a:defRPr sz="1500" b="1">
                <a:solidFill>
                  <a:srgbClr val="121D34"/>
                </a:solidFill>
                <a:latin typeface="Aptos"/>
              </a:defRPr>
            </a:pPr>
            <a:r>
              <a:t>Encode</a:t>
            </a:r>
          </a:p>
          <a:p>
            <a:pPr algn="ctr">
              <a:defRPr sz="1050">
                <a:solidFill>
                  <a:srgbClr val="69717E"/>
                </a:solidFill>
                <a:latin typeface="Aptos"/>
              </a:defRPr>
            </a:pPr>
            <a:r>
              <a:t>Convert categorical variables into numerical features.</a:t>
            </a:r>
          </a:p>
        </p:txBody>
      </p:sp>
      <p:sp>
        <p:nvSpPr>
          <p:cNvPr id="15" name="Oval 14"/>
          <p:cNvSpPr/>
          <p:nvPr/>
        </p:nvSpPr>
        <p:spPr>
          <a:xfrm>
            <a:off x="8110728" y="2286000"/>
            <a:ext cx="640080" cy="640080"/>
          </a:xfrm>
          <a:prstGeom prst="ellipse">
            <a:avLst/>
          </a:prstGeom>
          <a:solidFill>
            <a:srgbClr val="3891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738360" y="2057400"/>
            <a:ext cx="19659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1051560" rIns="137160" rtlCol="0" anchor="ctr"/>
          <a:lstStyle/>
          <a:p>
            <a:pPr algn="ctr">
              <a:defRPr sz="1500" b="1">
                <a:solidFill>
                  <a:srgbClr val="121D34"/>
                </a:solidFill>
                <a:latin typeface="Aptos"/>
              </a:defRPr>
            </a:pPr>
            <a:r>
              <a:t>Select</a:t>
            </a:r>
          </a:p>
          <a:p>
            <a:pPr algn="ctr">
              <a:defRPr sz="1050">
                <a:solidFill>
                  <a:srgbClr val="69717E"/>
                </a:solidFill>
                <a:latin typeface="Aptos"/>
              </a:defRPr>
            </a:pPr>
            <a:r>
              <a:t>Remove unnecessary fields and retain relevant predictors.</a:t>
            </a:r>
          </a:p>
        </p:txBody>
      </p:sp>
      <p:sp>
        <p:nvSpPr>
          <p:cNvPr id="17" name="Oval 16"/>
          <p:cNvSpPr/>
          <p:nvPr/>
        </p:nvSpPr>
        <p:spPr>
          <a:xfrm>
            <a:off x="10396728" y="2286000"/>
            <a:ext cx="640080" cy="640080"/>
          </a:xfrm>
          <a:prstGeom prst="ellipse">
            <a:avLst/>
          </a:prstGeom>
          <a:solidFill>
            <a:srgbClr val="C6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0749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2A313D"/>
                </a:solidFill>
                <a:latin typeface="Aptos"/>
              </a:defRPr>
            </a:pPr>
            <a:r>
              <a:t>• This sequence produces a structured dataset that can be used for risk profiling, visualization and predictive modeling.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9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02920" y="347472"/>
            <a:ext cx="1874519" cy="329184"/>
          </a:xfrm>
          <a:prstGeom prst="roundRect">
            <a:avLst/>
          </a:prstGeom>
          <a:solidFill>
            <a:srgbClr val="12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dirty="0"/>
              <a:t>0</a:t>
            </a:r>
            <a:r>
              <a:rPr lang="en-IN" dirty="0"/>
              <a:t>9</a:t>
            </a:r>
            <a:r>
              <a:rPr dirty="0"/>
              <a:t> 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6576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9717E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0467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21D34"/>
                </a:solidFill>
                <a:latin typeface="Aptos Display"/>
              </a:defRPr>
            </a:pPr>
            <a:r>
              <a:t>Key Outcomes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353312"/>
            <a:ext cx="107899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9717E"/>
                </a:solidFill>
                <a:latin typeface="Aptos"/>
              </a:defRPr>
            </a:pPr>
            <a:r>
              <a:t>The preprocessing stage transforms raw financial records into meaningful risk information.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74519"/>
            <a:ext cx="6400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A313D"/>
                </a:solidFill>
                <a:latin typeface="Aptos"/>
              </a:defRPr>
            </a:pPr>
            <a:r>
              <a:t>• Validated the dataset structure and identified numeric and categorical fields.</a:t>
            </a:r>
          </a:p>
          <a:p>
            <a:pPr>
              <a:spcAft>
                <a:spcPts val="1200"/>
              </a:spcAft>
              <a:defRPr sz="1600">
                <a:solidFill>
                  <a:srgbClr val="2A313D"/>
                </a:solidFill>
                <a:latin typeface="Aptos"/>
              </a:defRPr>
            </a:pPr>
            <a:r>
              <a:t>• Standardized integer and floating-point columns for reliable analysis.</a:t>
            </a:r>
          </a:p>
          <a:p>
            <a:pPr>
              <a:spcAft>
                <a:spcPts val="1200"/>
              </a:spcAft>
              <a:defRPr sz="1600">
                <a:solidFill>
                  <a:srgbClr val="2A313D"/>
                </a:solidFill>
                <a:latin typeface="Aptos"/>
              </a:defRPr>
            </a:pPr>
            <a:r>
              <a:t>• Created interpretable risk categories for income, credit score, loan amount, DTI, previous defaults, age and job tenure.</a:t>
            </a:r>
          </a:p>
          <a:p>
            <a:pPr>
              <a:spcAft>
                <a:spcPts val="1200"/>
              </a:spcAft>
              <a:defRPr sz="1600">
                <a:solidFill>
                  <a:srgbClr val="2A313D"/>
                </a:solidFill>
                <a:latin typeface="Aptos"/>
              </a:defRPr>
            </a:pPr>
            <a:r>
              <a:t>• Encoded categorical variables into numerical features.</a:t>
            </a:r>
          </a:p>
          <a:p>
            <a:pPr>
              <a:spcAft>
                <a:spcPts val="1200"/>
              </a:spcAft>
              <a:defRPr sz="1600">
                <a:solidFill>
                  <a:srgbClr val="2A313D"/>
                </a:solidFill>
                <a:latin typeface="Aptos"/>
              </a:defRPr>
            </a:pPr>
            <a:r>
              <a:t>• Removed an unnecessary variable and retained a focused set of financial risk predictors.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965960"/>
            <a:ext cx="38862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tlCol="0" anchor="ctr"/>
          <a:lstStyle/>
          <a:p>
            <a:pPr algn="ctr">
              <a:defRPr sz="1300" b="1">
                <a:solidFill>
                  <a:srgbClr val="121D34"/>
                </a:solidFill>
                <a:latin typeface="Aptos"/>
              </a:defRPr>
            </a:pPr>
            <a:r>
              <a:t>Clean Data</a:t>
            </a:r>
          </a:p>
          <a:p>
            <a:pPr>
              <a:defRPr sz="1050">
                <a:solidFill>
                  <a:srgbClr val="69717E"/>
                </a:solidFill>
                <a:latin typeface="Aptos"/>
              </a:defRPr>
            </a:pPr>
            <a:r>
              <a:t>Consistent types and structured variables.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79" y="1965960"/>
            <a:ext cx="64008" cy="1097280"/>
          </a:xfrm>
          <a:prstGeom prst="rect">
            <a:avLst/>
          </a:prstGeom>
          <a:solidFill>
            <a:srgbClr val="19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498079" y="3337560"/>
            <a:ext cx="38862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tlCol="0" anchor="ctr"/>
          <a:lstStyle/>
          <a:p>
            <a:pPr algn="ctr">
              <a:defRPr sz="1300" b="1">
                <a:solidFill>
                  <a:srgbClr val="121D34"/>
                </a:solidFill>
                <a:latin typeface="Aptos"/>
              </a:defRPr>
            </a:pPr>
            <a:r>
              <a:t>Meaningful Risk Features</a:t>
            </a:r>
          </a:p>
          <a:p>
            <a:pPr>
              <a:defRPr sz="1050">
                <a:solidFill>
                  <a:srgbClr val="69717E"/>
                </a:solidFill>
                <a:latin typeface="Aptos"/>
              </a:defRPr>
            </a:pPr>
            <a:r>
              <a:t>Risk bands make financial behavior easier to interpret.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79" y="3337560"/>
            <a:ext cx="64008" cy="1097280"/>
          </a:xfrm>
          <a:prstGeom prst="rect">
            <a:avLst/>
          </a:prstGeom>
          <a:solidFill>
            <a:srgbClr val="E7B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498079" y="4709160"/>
            <a:ext cx="38862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tlCol="0" anchor="ctr"/>
          <a:lstStyle/>
          <a:p>
            <a:pPr algn="ctr">
              <a:defRPr sz="1300" b="1">
                <a:solidFill>
                  <a:srgbClr val="121D34"/>
                </a:solidFill>
                <a:latin typeface="Aptos"/>
              </a:defRPr>
            </a:pPr>
            <a:r>
              <a:t>Model-Ready Dataset</a:t>
            </a:r>
          </a:p>
          <a:p>
            <a:pPr>
              <a:defRPr sz="1050">
                <a:solidFill>
                  <a:srgbClr val="69717E"/>
                </a:solidFill>
                <a:latin typeface="Aptos"/>
              </a:defRPr>
            </a:pPr>
            <a:r>
              <a:t>Encoded and selected features support further analysis.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79" y="4709160"/>
            <a:ext cx="64008" cy="1097280"/>
          </a:xfrm>
          <a:prstGeom prst="rect">
            <a:avLst/>
          </a:prstGeom>
          <a:solidFill>
            <a:srgbClr val="3891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668594" y="245807"/>
            <a:ext cx="12191695" cy="6858000"/>
          </a:xfrm>
          <a:prstGeom prst="rect">
            <a:avLst/>
          </a:prstGeom>
          <a:solidFill>
            <a:srgbClr val="12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8686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Aptos Display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42316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E7B446"/>
                </a:solidFill>
                <a:latin typeface="Aptos"/>
              </a:defRPr>
            </a:pPr>
            <a:r>
              <a:t>Financial Risk Analysis</a:t>
            </a:r>
          </a:p>
          <a:p>
            <a:pPr>
              <a:defRPr sz="1700">
                <a:solidFill>
                  <a:srgbClr val="CDD8E6"/>
                </a:solidFill>
                <a:latin typeface="Aptos"/>
              </a:defRPr>
            </a:pPr>
            <a: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86791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Aptos"/>
              </a:defRPr>
            </a:pPr>
            <a:r>
              <a:t>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3886200"/>
            <a:ext cx="5760720" cy="182880"/>
          </a:xfrm>
          <a:prstGeom prst="roundRect">
            <a:avLst/>
          </a:prstGeom>
          <a:solidFill>
            <a:srgbClr val="374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828800" y="3886200"/>
            <a:ext cx="2419502" cy="182880"/>
          </a:xfrm>
          <a:prstGeom prst="roundRect">
            <a:avLst/>
          </a:prstGeom>
          <a:solidFill>
            <a:srgbClr val="3891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44348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Aptos"/>
              </a:defRPr>
            </a:pPr>
            <a:r>
              <a:t>MEDIUM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4453128"/>
            <a:ext cx="5760720" cy="182880"/>
          </a:xfrm>
          <a:prstGeom prst="roundRect">
            <a:avLst/>
          </a:prstGeom>
          <a:solidFill>
            <a:srgbClr val="374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828800" y="4453128"/>
            <a:ext cx="3917289" cy="182880"/>
          </a:xfrm>
          <a:prstGeom prst="roundRect">
            <a:avLst/>
          </a:prstGeom>
          <a:solidFill>
            <a:srgbClr val="E7B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500176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Aptos"/>
              </a:defRPr>
            </a:pPr>
            <a:r>
              <a:t>HIGH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28800" y="5020056"/>
            <a:ext cx="5760720" cy="182880"/>
          </a:xfrm>
          <a:prstGeom prst="roundRect">
            <a:avLst/>
          </a:prstGeom>
          <a:solidFill>
            <a:srgbClr val="374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828800" y="5020056"/>
            <a:ext cx="5069433" cy="182880"/>
          </a:xfrm>
          <a:prstGeom prst="roundRect">
            <a:avLst/>
          </a:prstGeom>
          <a:solidFill>
            <a:srgbClr val="C6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905</Words>
  <Application>Microsoft Office PowerPoint</Application>
  <PresentationFormat>Widescreen</PresentationFormat>
  <Paragraphs>125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 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praharsha Konka</cp:lastModifiedBy>
  <cp:revision>3</cp:revision>
  <dcterms:created xsi:type="dcterms:W3CDTF">2013-01-27T09:14:16Z</dcterms:created>
  <dcterms:modified xsi:type="dcterms:W3CDTF">2026-08-14T13:08:15Z</dcterms:modified>
  <cp:category/>
</cp:coreProperties>
</file>