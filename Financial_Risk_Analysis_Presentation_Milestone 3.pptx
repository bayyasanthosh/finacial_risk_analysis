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6" r:id="rId3"/>
    <p:sldId id="258" r:id="rId4"/>
    <p:sldId id="263" r:id="rId5"/>
    <p:sldId id="264" r:id="rId6"/>
    <p:sldId id="265" r:id="rId7"/>
    <p:sldId id="259" r:id="rId8"/>
    <p:sldId id="266" r:id="rId9"/>
    <p:sldId id="267" r:id="rId10"/>
    <p:sldId id="271" r:id="rId11"/>
    <p:sldId id="260" r:id="rId12"/>
    <p:sldId id="261" r:id="rId13"/>
    <p:sldId id="268" r:id="rId14"/>
    <p:sldId id="269" r:id="rId15"/>
    <p:sldId id="270" r:id="rId16"/>
    <p:sldId id="262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25603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FINANCIAL RISK</a:t>
            </a:r>
            <a:br>
              <a:rPr dirty="0"/>
            </a:br>
            <a:r>
              <a:rPr dirty="0"/>
              <a:t>VISUALIZATION</a:t>
            </a:r>
          </a:p>
          <a:p>
            <a:pPr>
              <a:defRPr sz="2300" b="1">
                <a:solidFill>
                  <a:srgbClr val="B4DCFF"/>
                </a:solidFill>
              </a:defRPr>
            </a:pPr>
            <a:r>
              <a:rPr dirty="0"/>
              <a:t>16-DASHBOARD</a:t>
            </a:r>
            <a:br>
              <a:rPr dirty="0"/>
            </a:br>
            <a:r>
              <a:rPr dirty="0"/>
              <a:t>TEAM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Milestone – 3</a:t>
            </a:r>
          </a:p>
          <a:p>
            <a:pPr>
              <a:defRPr sz="1150">
                <a:solidFill>
                  <a:srgbClr val="DCE6F0"/>
                </a:solidFill>
              </a:defRPr>
            </a:pPr>
            <a:r>
              <a:t>Infosys Internship • Data Visualization</a:t>
            </a:r>
            <a:br/>
            <a:r>
              <a:t>TEAM –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914400"/>
            <a:ext cx="6372257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A43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3: Dashboard Development</a:t>
            </a:r>
          </a:p>
          <a:p>
            <a:pPr>
              <a:defRPr sz="1600">
                <a:solidFill>
                  <a:srgbClr val="697078"/>
                </a:solidFill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954780" y="2414704"/>
            <a:ext cx="7223760" cy="1842664"/>
          </a:xfrm>
          <a:prstGeom prst="roundRect">
            <a:avLst/>
          </a:prstGeom>
          <a:solidFill>
            <a:srgbClr val="EBF4FC"/>
          </a:solidFill>
          <a:ln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2A43"/>
                </a:solidFill>
              </a:defRPr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Presentation Focus</a:t>
            </a:r>
          </a:p>
          <a:p>
            <a:pPr>
              <a:spcBef>
                <a:spcPts val="600"/>
              </a:spcBef>
              <a:defRPr sz="1220">
                <a:solidFill>
                  <a:srgbClr val="232323"/>
                </a:solidFill>
              </a:defRPr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• Customer and financial risk overview</a:t>
            </a:r>
          </a:p>
          <a:p>
            <a:pPr>
              <a:spcBef>
                <a:spcPts val="600"/>
              </a:spcBef>
              <a:defRPr sz="1220">
                <a:solidFill>
                  <a:srgbClr val="232323"/>
                </a:solidFill>
              </a:defRPr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• Risk surface and segment-level analysis</a:t>
            </a:r>
          </a:p>
          <a:p>
            <a:pPr>
              <a:spcBef>
                <a:spcPts val="600"/>
              </a:spcBef>
              <a:defRPr sz="1220">
                <a:solidFill>
                  <a:srgbClr val="232323"/>
                </a:solidFill>
              </a:defRPr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• Two-page high-risk customer analysis</a:t>
            </a:r>
          </a:p>
          <a:p>
            <a:pPr>
              <a:spcBef>
                <a:spcPts val="600"/>
              </a:spcBef>
              <a:defRPr sz="1220">
                <a:solidFill>
                  <a:srgbClr val="232323"/>
                </a:solidFill>
              </a:defRPr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• Risk distribution and assessment coverage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61320" y="641908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078"/>
                </a:solidFill>
              </a:defRPr>
            </a:pPr>
            <a:r>
              <a:t>TEAM 5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00EADE-04C8-124A-0692-9CF067133127}"/>
              </a:ext>
            </a:extLst>
          </p:cNvPr>
          <p:cNvSpPr/>
          <p:nvPr/>
        </p:nvSpPr>
        <p:spPr>
          <a:xfrm>
            <a:off x="6361468" y="1858299"/>
            <a:ext cx="3048001" cy="297917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2A43"/>
                </a:solidFill>
              </a:defRPr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Workflow</a:t>
            </a:r>
          </a:p>
          <a:p>
            <a:pPr>
              <a:spcBef>
                <a:spcPts val="600"/>
              </a:spcBef>
              <a:defRPr sz="1220">
                <a:solidFill>
                  <a:srgbClr val="232323"/>
                </a:solidFill>
              </a:defRPr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• Data preparation and cleaning</a:t>
            </a:r>
          </a:p>
          <a:p>
            <a:pPr>
              <a:spcBef>
                <a:spcPts val="600"/>
              </a:spcBef>
              <a:defRPr sz="1220">
                <a:solidFill>
                  <a:srgbClr val="232323"/>
                </a:solidFill>
              </a:defRPr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• Field validation and segmentation</a:t>
            </a:r>
          </a:p>
          <a:p>
            <a:pPr>
              <a:spcBef>
                <a:spcPts val="600"/>
              </a:spcBef>
              <a:defRPr sz="1220">
                <a:solidFill>
                  <a:srgbClr val="232323"/>
                </a:solidFill>
              </a:defRPr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• Risk categorization</a:t>
            </a:r>
          </a:p>
          <a:p>
            <a:pPr>
              <a:spcBef>
                <a:spcPts val="600"/>
              </a:spcBef>
              <a:defRPr sz="1220">
                <a:solidFill>
                  <a:srgbClr val="232323"/>
                </a:solidFill>
              </a:defRPr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• Visual design and layout</a:t>
            </a:r>
          </a:p>
          <a:p>
            <a:pPr>
              <a:spcBef>
                <a:spcPts val="600"/>
              </a:spcBef>
              <a:defRPr sz="1220">
                <a:solidFill>
                  <a:srgbClr val="232323"/>
                </a:solidFill>
              </a:defRPr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• Interactive analysis and validation</a:t>
            </a:r>
          </a:p>
          <a:p>
            <a:pPr algn="ctr"/>
            <a:endParaRPr lang="en-IN" dirty="0">
              <a:latin typeface="+mj-l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70EB9F-32DD-8C8C-847B-55C70C4E8DB0}"/>
              </a:ext>
            </a:extLst>
          </p:cNvPr>
          <p:cNvSpPr/>
          <p:nvPr/>
        </p:nvSpPr>
        <p:spPr>
          <a:xfrm>
            <a:off x="2497394" y="1858299"/>
            <a:ext cx="2969343" cy="297917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82A43"/>
                </a:solidFill>
              </a:defRPr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Objective</a:t>
            </a:r>
          </a:p>
          <a:p>
            <a:pPr>
              <a:spcBef>
                <a:spcPts val="600"/>
              </a:spcBef>
              <a:defRPr sz="1220">
                <a:solidFill>
                  <a:srgbClr val="232323"/>
                </a:solidFill>
              </a:defRPr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• Convert financial customer data into interactive visual insights.</a:t>
            </a:r>
          </a:p>
          <a:p>
            <a:pPr>
              <a:spcBef>
                <a:spcPts val="600"/>
              </a:spcBef>
              <a:defRPr sz="1220">
                <a:solidFill>
                  <a:srgbClr val="232323"/>
                </a:solidFill>
              </a:defRPr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• Identify high-, medium- and low-risk customer segments.</a:t>
            </a:r>
          </a:p>
          <a:p>
            <a:pPr>
              <a:spcBef>
                <a:spcPts val="600"/>
              </a:spcBef>
              <a:defRPr sz="1220">
                <a:solidFill>
                  <a:srgbClr val="232323"/>
                </a:solidFill>
              </a:defRPr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• Compare risk across geography, employment and loan purpose.</a:t>
            </a:r>
          </a:p>
          <a:p>
            <a:pPr>
              <a:spcBef>
                <a:spcPts val="600"/>
              </a:spcBef>
              <a:defRPr sz="1220">
                <a:solidFill>
                  <a:srgbClr val="232323"/>
                </a:solidFill>
              </a:defRPr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• Support faster identification of risk concentration and customer patterns.</a:t>
            </a:r>
          </a:p>
          <a:p>
            <a:pPr algn="ctr"/>
            <a:endParaRPr lang="en-IN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C414E3-C31E-5C28-9F49-19B91A50823B}"/>
              </a:ext>
            </a:extLst>
          </p:cNvPr>
          <p:cNvSpPr txBox="1"/>
          <p:nvPr/>
        </p:nvSpPr>
        <p:spPr>
          <a:xfrm>
            <a:off x="1012723" y="452284"/>
            <a:ext cx="63811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+mj-lt"/>
                <a:cs typeface="Times New Roman" panose="02020603050405020304" pitchFamily="18" charset="0"/>
              </a:rPr>
              <a:t>Project Objective &amp; Dashboard Approach</a:t>
            </a:r>
          </a:p>
          <a:p>
            <a:endParaRPr lang="en-IN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70091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43"/>
                </a:solidFill>
                <a:latin typeface="Aptos Display"/>
              </a:defRPr>
            </a:pPr>
            <a:r>
              <a:t>Dashboard 1 — Financial Risk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8"/>
                </a:solidFill>
              </a:defRPr>
            </a:pPr>
            <a:r>
              <a:t>Owner: Person 1 • Existing dashboard retained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" y="1120140"/>
            <a:ext cx="8046720" cy="5394959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5d851013-50a2-4b0b-aa24-615d0b5a320f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001000" cy="5349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32520" y="1234440"/>
            <a:ext cx="2834640" cy="4526280"/>
          </a:xfrm>
          <a:prstGeom prst="roundRect">
            <a:avLst/>
          </a:prstGeom>
          <a:solidFill>
            <a:srgbClr val="EBF4FC"/>
          </a:solidFill>
          <a:ln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A43"/>
                </a:solidFill>
              </a:defRPr>
            </a:pPr>
            <a:r>
              <a:t>Presentation focus</a:t>
            </a:r>
          </a:p>
          <a:p>
            <a:pPr>
              <a:spcBef>
                <a:spcPts val="300"/>
              </a:spcBef>
              <a:defRPr sz="950">
                <a:solidFill>
                  <a:srgbClr val="232323"/>
                </a:solidFill>
              </a:defRPr>
            </a:pPr>
            <a:r>
              <a:t>• Customer KPIs and risk distribution</a:t>
            </a:r>
          </a:p>
          <a:p>
            <a:pPr>
              <a:spcBef>
                <a:spcPts val="300"/>
              </a:spcBef>
              <a:defRPr sz="950">
                <a:solidFill>
                  <a:srgbClr val="232323"/>
                </a:solidFill>
              </a:defRPr>
            </a:pPr>
            <a:r>
              <a:t>• Geographic loan exposure</a:t>
            </a:r>
          </a:p>
          <a:p>
            <a:pPr>
              <a:spcBef>
                <a:spcPts val="300"/>
              </a:spcBef>
              <a:defRPr sz="950">
                <a:solidFill>
                  <a:srgbClr val="232323"/>
                </a:solidFill>
              </a:defRPr>
            </a:pPr>
            <a:r>
              <a:t>• Credit score vs loan amount</a:t>
            </a:r>
          </a:p>
          <a:p>
            <a:pPr>
              <a:spcBef>
                <a:spcPts val="300"/>
              </a:spcBef>
              <a:defRPr sz="950">
                <a:solidFill>
                  <a:srgbClr val="232323"/>
                </a:solidFill>
              </a:defRPr>
            </a:pPr>
            <a:r>
              <a:t>• Employment and DTI 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61320" y="641908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078"/>
                </a:solidFill>
              </a:defRPr>
            </a:pPr>
            <a:r>
              <a:t>TEAM 5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620503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43"/>
                </a:solidFill>
                <a:latin typeface="Aptos Display"/>
              </a:defRPr>
            </a:pPr>
            <a:r>
              <a:rPr dirty="0"/>
              <a:t>Dashboard </a:t>
            </a:r>
            <a:r>
              <a:rPr lang="en-IN" dirty="0"/>
              <a:t>2</a:t>
            </a:r>
            <a:r>
              <a:rPr dirty="0"/>
              <a:t> — Income &amp; Financial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8"/>
                </a:solidFill>
              </a:defRPr>
            </a:pPr>
            <a:r>
              <a:t>Owner: Person 1 • New dashboard — distinct analytical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Total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6440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High-Risk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7044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698.7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Credit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26.8K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Loan Amount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d0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20240"/>
            <a:ext cx="5349240" cy="199339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95059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d05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349240" cy="199339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71500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d05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96512"/>
            <a:ext cx="5349240" cy="199339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195059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d05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96512"/>
            <a:ext cx="5349240" cy="199339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61320" y="641908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078"/>
                </a:solidFill>
              </a:defRPr>
            </a:pPr>
            <a:r>
              <a:t>TEAM 5 •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607102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43"/>
                </a:solidFill>
                <a:latin typeface="Aptos Display"/>
              </a:defRPr>
            </a:pPr>
            <a:r>
              <a:rPr dirty="0"/>
              <a:t>Dashboard </a:t>
            </a:r>
            <a:r>
              <a:rPr lang="en-IN" dirty="0"/>
              <a:t>3</a:t>
            </a:r>
            <a:r>
              <a:rPr dirty="0"/>
              <a:t> — Assets &amp; Financial 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8"/>
                </a:solidFill>
              </a:defRPr>
            </a:pPr>
            <a:r>
              <a:t>Owner: Person 1 • New dashboard — distinct analytical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Total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6440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High-Risk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7044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698.7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Credit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26.8K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Loan Amount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d0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20240"/>
            <a:ext cx="5349240" cy="199339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95059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d06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349240" cy="199339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71500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d06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96512"/>
            <a:ext cx="5349240" cy="199339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195059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d06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96512"/>
            <a:ext cx="5349240" cy="199339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61320" y="641908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078"/>
                </a:solidFill>
              </a:defRPr>
            </a:pPr>
            <a:r>
              <a:t>TEAM 5 •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665893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43"/>
                </a:solidFill>
                <a:latin typeface="Aptos Display"/>
              </a:defRPr>
            </a:pPr>
            <a:r>
              <a:rPr dirty="0"/>
              <a:t>Dashboard </a:t>
            </a:r>
            <a:r>
              <a:rPr lang="en-IN" dirty="0"/>
              <a:t>4</a:t>
            </a:r>
            <a:r>
              <a:rPr dirty="0"/>
              <a:t> — Customer Demographics &amp;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8"/>
                </a:solidFill>
              </a:defRPr>
            </a:pPr>
            <a:r>
              <a:t>Owner: Person 1 • New dashboard — distinct analytical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Total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6440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High-Risk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7044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698.7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Credit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26.8K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Loan Amount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d0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20240"/>
            <a:ext cx="5349240" cy="199339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95059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d07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349240" cy="199339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71500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d07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96512"/>
            <a:ext cx="5349240" cy="199339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195059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d07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96512"/>
            <a:ext cx="5349240" cy="199339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61320" y="641908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078"/>
                </a:solidFill>
              </a:defRPr>
            </a:pPr>
            <a:r>
              <a:t>TEAM 5 •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715548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43"/>
                </a:solidFill>
                <a:latin typeface="Aptos Display"/>
              </a:defRPr>
            </a:pPr>
            <a:r>
              <a:rPr dirty="0"/>
              <a:t>Dashboard </a:t>
            </a:r>
            <a:r>
              <a:rPr lang="en-IN" dirty="0"/>
              <a:t>5</a:t>
            </a:r>
            <a:r>
              <a:rPr dirty="0"/>
              <a:t> — Financial Risk Surface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8"/>
                </a:solidFill>
              </a:defRPr>
            </a:pPr>
            <a:r>
              <a:t>Owner: Person 2 • Existing dashboard retained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" y="1120140"/>
            <a:ext cx="8046720" cy="5394959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22512a46-0ed6-409a-ae96-5950290fd8f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001000" cy="5349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32520" y="1234440"/>
            <a:ext cx="2834640" cy="4526280"/>
          </a:xfrm>
          <a:prstGeom prst="roundRect">
            <a:avLst/>
          </a:prstGeom>
          <a:solidFill>
            <a:srgbClr val="EBF4FC"/>
          </a:solidFill>
          <a:ln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A43"/>
                </a:solidFill>
              </a:defRPr>
            </a:pPr>
            <a:r>
              <a:t>Presentation focus</a:t>
            </a:r>
          </a:p>
          <a:p>
            <a:pPr>
              <a:spcBef>
                <a:spcPts val="300"/>
              </a:spcBef>
              <a:defRPr sz="950">
                <a:solidFill>
                  <a:srgbClr val="232323"/>
                </a:solidFill>
              </a:defRPr>
            </a:pPr>
            <a:r>
              <a:t>• Risk matrix by age and employment</a:t>
            </a:r>
          </a:p>
          <a:p>
            <a:pPr>
              <a:spcBef>
                <a:spcPts val="300"/>
              </a:spcBef>
              <a:defRPr sz="950">
                <a:solidFill>
                  <a:srgbClr val="232323"/>
                </a:solidFill>
              </a:defRPr>
            </a:pPr>
            <a:r>
              <a:t>• Average DTI by age group</a:t>
            </a:r>
          </a:p>
          <a:p>
            <a:pPr>
              <a:spcBef>
                <a:spcPts val="300"/>
              </a:spcBef>
              <a:defRPr sz="950">
                <a:solidFill>
                  <a:srgbClr val="232323"/>
                </a:solidFill>
              </a:defRPr>
            </a:pPr>
            <a:r>
              <a:t>• Loan amount by purpose</a:t>
            </a:r>
          </a:p>
          <a:p>
            <a:pPr>
              <a:spcBef>
                <a:spcPts val="300"/>
              </a:spcBef>
              <a:defRPr sz="950">
                <a:solidFill>
                  <a:srgbClr val="232323"/>
                </a:solidFill>
              </a:defRPr>
            </a:pPr>
            <a:r>
              <a:t>• Default history and credit 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61320" y="641908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078"/>
                </a:solidFill>
              </a:defRPr>
            </a:pPr>
            <a:r>
              <a:t>TEAM 5 •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569078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43"/>
                </a:solidFill>
                <a:latin typeface="Aptos Display"/>
              </a:defRPr>
            </a:pPr>
            <a:r>
              <a:rPr dirty="0"/>
              <a:t>Dashboard </a:t>
            </a:r>
            <a:r>
              <a:rPr lang="en-IN" dirty="0"/>
              <a:t>6</a:t>
            </a:r>
            <a:r>
              <a:rPr dirty="0"/>
              <a:t> — Loan Portfolio &amp;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8"/>
                </a:solidFill>
              </a:defRPr>
            </a:pPr>
            <a:r>
              <a:t>Owner: Person 2 • New dashboard — distinct analytical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Total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6440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High-Risk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7044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698.7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Credit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26.8K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Loan Amount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d0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20240"/>
            <a:ext cx="5349240" cy="199339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95059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d08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349240" cy="199339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71500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d08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96512"/>
            <a:ext cx="5349240" cy="199339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195059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d08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96512"/>
            <a:ext cx="5349240" cy="199339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61320" y="641908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078"/>
                </a:solidFill>
              </a:defRPr>
            </a:pPr>
            <a:r>
              <a:t>TEAM 5 •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703590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43"/>
                </a:solidFill>
                <a:latin typeface="Aptos Display"/>
              </a:defRPr>
            </a:pPr>
            <a:r>
              <a:rPr dirty="0"/>
              <a:t>Dashboard </a:t>
            </a:r>
            <a:r>
              <a:rPr lang="en-IN" dirty="0"/>
              <a:t>7</a:t>
            </a:r>
            <a:r>
              <a:rPr dirty="0"/>
              <a:t> — Payment Behavior &amp; Credit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8"/>
                </a:solidFill>
              </a:defRPr>
            </a:pPr>
            <a:r>
              <a:t>Owner: Person 2 • New dashboard — distinct analytical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Total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6440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High-Risk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7044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698.7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Credit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26.8K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Loan Amount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d0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20240"/>
            <a:ext cx="5349240" cy="199339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95059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d09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349240" cy="199339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71500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d09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96512"/>
            <a:ext cx="5349240" cy="199339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195059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d09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96512"/>
            <a:ext cx="5349240" cy="199339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61320" y="641908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078"/>
                </a:solidFill>
              </a:defRPr>
            </a:pPr>
            <a:r>
              <a:t>TEAM 5 •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583948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43"/>
                </a:solidFill>
                <a:latin typeface="Aptos Display"/>
              </a:defRPr>
            </a:pPr>
            <a:r>
              <a:rPr dirty="0"/>
              <a:t>Dashboard </a:t>
            </a:r>
            <a:r>
              <a:rPr lang="en-IN" dirty="0"/>
              <a:t>8</a:t>
            </a:r>
            <a:r>
              <a:rPr dirty="0"/>
              <a:t> — Credit Quality &amp;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8"/>
                </a:solidFill>
              </a:defRPr>
            </a:pPr>
            <a:r>
              <a:t>Owner: Person 3 • New dashboard — distinct analytical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Total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6440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High-Risk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7044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698.7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Credit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26.8K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Loan Amount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d1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20240"/>
            <a:ext cx="5349240" cy="199339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95059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d1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349240" cy="199339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71500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d13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96512"/>
            <a:ext cx="5349240" cy="199339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195059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d13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96512"/>
            <a:ext cx="5349240" cy="199339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61320" y="641908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078"/>
                </a:solidFill>
              </a:defRPr>
            </a:pPr>
            <a:r>
              <a:t>TEAM 5 •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733688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43"/>
                </a:solidFill>
                <a:latin typeface="Aptos Display"/>
              </a:defRPr>
            </a:pPr>
            <a:r>
              <a:rPr dirty="0"/>
              <a:t>Dashboard </a:t>
            </a:r>
            <a:r>
              <a:rPr lang="en-IN" dirty="0"/>
              <a:t>9</a:t>
            </a:r>
            <a:r>
              <a:rPr dirty="0"/>
              <a:t> — High Risk Customer Analysis | Page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8"/>
                </a:solidFill>
              </a:defRPr>
            </a:pPr>
            <a:r>
              <a:t>Owner: Person 3 • Existing dashboard retained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" y="1120140"/>
            <a:ext cx="8046720" cy="5394959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725166fa-ca24-4dfc-b0da-d019831151c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001000" cy="5349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32520" y="1234440"/>
            <a:ext cx="2834640" cy="4526280"/>
          </a:xfrm>
          <a:prstGeom prst="roundRect">
            <a:avLst/>
          </a:prstGeom>
          <a:solidFill>
            <a:srgbClr val="EBF4FC"/>
          </a:solidFill>
          <a:ln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A43"/>
                </a:solidFill>
              </a:defRPr>
            </a:pPr>
            <a:r>
              <a:t>Presentation focus</a:t>
            </a:r>
          </a:p>
          <a:p>
            <a:pPr>
              <a:spcBef>
                <a:spcPts val="300"/>
              </a:spcBef>
              <a:defRPr sz="950">
                <a:solidFill>
                  <a:srgbClr val="232323"/>
                </a:solidFill>
              </a:defRPr>
            </a:pPr>
            <a:r>
              <a:t>• High-risk customer drill-down</a:t>
            </a:r>
          </a:p>
          <a:p>
            <a:pPr>
              <a:spcBef>
                <a:spcPts val="300"/>
              </a:spcBef>
              <a:defRPr sz="950">
                <a:solidFill>
                  <a:srgbClr val="232323"/>
                </a:solidFill>
              </a:defRPr>
            </a:pPr>
            <a:r>
              <a:t>• Country and employment filters</a:t>
            </a:r>
          </a:p>
          <a:p>
            <a:pPr>
              <a:spcBef>
                <a:spcPts val="300"/>
              </a:spcBef>
              <a:defRPr sz="950">
                <a:solidFill>
                  <a:srgbClr val="232323"/>
                </a:solidFill>
              </a:defRPr>
            </a:pPr>
            <a:r>
              <a:t>• Loan purpose and default history</a:t>
            </a:r>
          </a:p>
          <a:p>
            <a:pPr>
              <a:spcBef>
                <a:spcPts val="300"/>
              </a:spcBef>
              <a:defRPr sz="950">
                <a:solidFill>
                  <a:srgbClr val="232323"/>
                </a:solidFill>
              </a:defRPr>
            </a:pPr>
            <a:r>
              <a:t>• Payment-history exploration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61320" y="641908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078"/>
                </a:solidFill>
              </a:defRPr>
            </a:pPr>
            <a:r>
              <a:t>TEAM 5 •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624472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43"/>
                </a:solidFill>
                <a:latin typeface="Aptos Display"/>
              </a:defRPr>
            </a:pPr>
            <a:r>
              <a:rPr dirty="0"/>
              <a:t>Dashboard </a:t>
            </a:r>
            <a:r>
              <a:rPr lang="en-IN" dirty="0"/>
              <a:t>9</a:t>
            </a:r>
            <a:r>
              <a:rPr dirty="0"/>
              <a:t> — High Risk Customer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8"/>
                </a:solidFill>
              </a:defRPr>
            </a:pPr>
            <a:r>
              <a:t>Owner: Person 3 • Existing dashboard retained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" y="1120140"/>
            <a:ext cx="8046720" cy="5394959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3bf68e41-2622-4204-a1a5-fc3d6345ffe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001000" cy="5349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32520" y="1234440"/>
            <a:ext cx="2834640" cy="4526280"/>
          </a:xfrm>
          <a:prstGeom prst="roundRect">
            <a:avLst/>
          </a:prstGeom>
          <a:solidFill>
            <a:srgbClr val="EBF4FC"/>
          </a:solidFill>
          <a:ln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A43"/>
                </a:solidFill>
              </a:defRPr>
            </a:pPr>
            <a:r>
              <a:t>Presentation focus</a:t>
            </a:r>
          </a:p>
          <a:p>
            <a:pPr>
              <a:spcBef>
                <a:spcPts val="300"/>
              </a:spcBef>
              <a:defRPr sz="950">
                <a:solidFill>
                  <a:srgbClr val="232323"/>
                </a:solidFill>
              </a:defRPr>
            </a:pPr>
            <a:r>
              <a:t>• Risk by employment status</a:t>
            </a:r>
          </a:p>
          <a:p>
            <a:pPr>
              <a:spcBef>
                <a:spcPts val="300"/>
              </a:spcBef>
              <a:defRPr sz="950">
                <a:solidFill>
                  <a:srgbClr val="232323"/>
                </a:solidFill>
              </a:defRPr>
            </a:pPr>
            <a:r>
              <a:t>• Risk by loan purpose</a:t>
            </a:r>
          </a:p>
          <a:p>
            <a:pPr>
              <a:spcBef>
                <a:spcPts val="300"/>
              </a:spcBef>
              <a:defRPr sz="950">
                <a:solidFill>
                  <a:srgbClr val="232323"/>
                </a:solidFill>
              </a:defRPr>
            </a:pPr>
            <a:r>
              <a:t>• Average credit score by risk</a:t>
            </a:r>
          </a:p>
          <a:p>
            <a:pPr>
              <a:spcBef>
                <a:spcPts val="300"/>
              </a:spcBef>
              <a:defRPr sz="950">
                <a:solidFill>
                  <a:srgbClr val="232323"/>
                </a:solidFill>
              </a:defRPr>
            </a:pPr>
            <a:r>
              <a:t>• Overall risk 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61320" y="641908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078"/>
                </a:solidFill>
              </a:defRPr>
            </a:pPr>
            <a:r>
              <a:t>TEAM 5 •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543854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43"/>
                </a:solidFill>
                <a:latin typeface="Aptos Display"/>
              </a:defRPr>
            </a:pPr>
            <a:r>
              <a:rPr dirty="0"/>
              <a:t>Dashboard 1</a:t>
            </a:r>
            <a:r>
              <a:rPr lang="en-IN" dirty="0"/>
              <a:t>0</a:t>
            </a:r>
            <a:r>
              <a:rPr dirty="0"/>
              <a:t> — Employment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8"/>
                </a:solidFill>
              </a:defRPr>
            </a:pPr>
            <a:r>
              <a:t>Owner: Person 2 • New dashboard — distinct analytical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Total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6440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High-Risk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7044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698.7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Credit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26.8K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Loan Amount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d1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20240"/>
            <a:ext cx="5349240" cy="199339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95059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d10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349240" cy="199339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71500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d10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96512"/>
            <a:ext cx="5349240" cy="199339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195059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d10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96512"/>
            <a:ext cx="5349240" cy="199339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61320" y="641908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078"/>
                </a:solidFill>
              </a:defRPr>
            </a:pPr>
            <a:r>
              <a:t>TEAM 5 •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721312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43"/>
                </a:solidFill>
                <a:latin typeface="Aptos Display"/>
              </a:defRPr>
            </a:pPr>
            <a:r>
              <a:rPr dirty="0"/>
              <a:t>Dashboard 1</a:t>
            </a:r>
            <a:r>
              <a:rPr lang="en-IN" dirty="0"/>
              <a:t>1</a:t>
            </a:r>
            <a:r>
              <a:rPr dirty="0"/>
              <a:t> — Debt-to-Income &amp; Financial Stress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8"/>
                </a:solidFill>
              </a:defRPr>
            </a:pPr>
            <a:r>
              <a:t>Owner: Person 3 • New dashboard — distinct analytical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Total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6440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High-Risk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7044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698.7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Credit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26.8K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Loan Amount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d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20240"/>
            <a:ext cx="5349240" cy="199339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95059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d1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349240" cy="199339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71500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d11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96512"/>
            <a:ext cx="5349240" cy="199339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195059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d11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96512"/>
            <a:ext cx="5349240" cy="199339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61320" y="641908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078"/>
                </a:solidFill>
              </a:defRPr>
            </a:pPr>
            <a:r>
              <a:t>TEAM 5 •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740298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43"/>
                </a:solidFill>
                <a:latin typeface="Aptos Display"/>
              </a:defRPr>
            </a:pPr>
            <a:r>
              <a:rPr dirty="0"/>
              <a:t>Dashboard 1</a:t>
            </a:r>
            <a:r>
              <a:rPr lang="en-IN" dirty="0"/>
              <a:t>2</a:t>
            </a:r>
            <a:r>
              <a:rPr dirty="0"/>
              <a:t> — Default Risk &amp; Repayment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8"/>
                </a:solidFill>
              </a:defRPr>
            </a:pPr>
            <a:r>
              <a:t>Owner: Person 3 • New dashboard — distinct analytical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Total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6440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High-Risk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7044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698.7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Credit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26.8K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Loan Amount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d1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20240"/>
            <a:ext cx="5349240" cy="199339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95059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d1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349240" cy="199339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71500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d12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96512"/>
            <a:ext cx="5349240" cy="199339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195059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d12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96512"/>
            <a:ext cx="5349240" cy="199339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61320" y="641908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078"/>
                </a:solidFill>
              </a:defRPr>
            </a:pPr>
            <a:r>
              <a:t>TEAM 5 •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918976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43"/>
                </a:solidFill>
                <a:latin typeface="Aptos Display"/>
              </a:defRPr>
            </a:pPr>
            <a:r>
              <a:rPr dirty="0"/>
              <a:t>Dashboard </a:t>
            </a:r>
            <a:r>
              <a:rPr lang="en-IN" dirty="0"/>
              <a:t>13</a:t>
            </a:r>
            <a:r>
              <a:rPr dirty="0"/>
              <a:t> — Financial Risk Assessment &amp; Customer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8"/>
                </a:solidFill>
              </a:defRPr>
            </a:pPr>
            <a:r>
              <a:t>Owner: Person 4 • Existing dashboard retained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" y="1120140"/>
            <a:ext cx="8046720" cy="5394959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1c3bcdb6-273d-4000-ad7c-94343e1856d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001000" cy="5349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32520" y="1234440"/>
            <a:ext cx="2834640" cy="4526280"/>
          </a:xfrm>
          <a:prstGeom prst="roundRect">
            <a:avLst/>
          </a:prstGeom>
          <a:solidFill>
            <a:srgbClr val="EBF4FC"/>
          </a:solidFill>
          <a:ln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82A43"/>
                </a:solidFill>
              </a:defRPr>
            </a:pPr>
            <a:r>
              <a:t>Presentation focus</a:t>
            </a:r>
          </a:p>
          <a:p>
            <a:pPr>
              <a:spcBef>
                <a:spcPts val="300"/>
              </a:spcBef>
              <a:defRPr sz="950">
                <a:solidFill>
                  <a:srgbClr val="232323"/>
                </a:solidFill>
              </a:defRPr>
            </a:pPr>
            <a:r>
              <a:t>• KPI summary and customer coverage</a:t>
            </a:r>
          </a:p>
          <a:p>
            <a:pPr>
              <a:spcBef>
                <a:spcPts val="300"/>
              </a:spcBef>
              <a:defRPr sz="950">
                <a:solidFill>
                  <a:srgbClr val="232323"/>
                </a:solidFill>
              </a:defRPr>
            </a:pPr>
            <a:r>
              <a:t>• Q&amp;A and narrative insights</a:t>
            </a:r>
          </a:p>
          <a:p>
            <a:pPr>
              <a:spcBef>
                <a:spcPts val="300"/>
              </a:spcBef>
              <a:defRPr sz="950">
                <a:solidFill>
                  <a:srgbClr val="232323"/>
                </a:solidFill>
              </a:defRPr>
            </a:pPr>
            <a:r>
              <a:t>• Risk by loan purpose and employment</a:t>
            </a:r>
          </a:p>
          <a:p>
            <a:pPr>
              <a:spcBef>
                <a:spcPts val="300"/>
              </a:spcBef>
              <a:defRPr sz="950">
                <a:solidFill>
                  <a:srgbClr val="232323"/>
                </a:solidFill>
              </a:defRPr>
            </a:pPr>
            <a:r>
              <a:t>• Country-level risk 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61320" y="641908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078"/>
                </a:solidFill>
              </a:defRPr>
            </a:pPr>
            <a:r>
              <a:t>TEAM 5 • 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567168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43"/>
                </a:solidFill>
                <a:latin typeface="Aptos Display"/>
              </a:defRPr>
            </a:pPr>
            <a:r>
              <a:rPr dirty="0"/>
              <a:t>Dashboard 1</a:t>
            </a:r>
            <a:r>
              <a:rPr lang="en-IN" dirty="0"/>
              <a:t>4</a:t>
            </a:r>
            <a:r>
              <a:rPr dirty="0"/>
              <a:t> — Geographic Risk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8"/>
                </a:solidFill>
              </a:defRPr>
            </a:pPr>
            <a:r>
              <a:t>Owner: Person 4 • New dashboard — distinct analytical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Total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6440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High-Risk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7044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698.7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Credit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26.8K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Loan Amount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d1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20240"/>
            <a:ext cx="5349240" cy="199339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95059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d14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349240" cy="199339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71500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d14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96512"/>
            <a:ext cx="5349240" cy="199339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195059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d14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96512"/>
            <a:ext cx="5349240" cy="199339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61320" y="641908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078"/>
                </a:solidFill>
              </a:defRPr>
            </a:pPr>
            <a:r>
              <a:t>TEAM 5 •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609609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43"/>
                </a:solidFill>
                <a:latin typeface="Aptos Display"/>
              </a:defRPr>
            </a:pPr>
            <a:r>
              <a:rPr dirty="0"/>
              <a:t>Dashboard 1</a:t>
            </a:r>
            <a:r>
              <a:rPr lang="en-IN" dirty="0"/>
              <a:t>5</a:t>
            </a:r>
            <a:r>
              <a:rPr dirty="0"/>
              <a:t> — Education &amp; Financial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8"/>
                </a:solidFill>
              </a:defRPr>
            </a:pPr>
            <a:r>
              <a:t>Owner: Person 4 • New dashboard — distinct analytical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Total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6440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High-Risk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7044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698.7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Credit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26.8K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Loan Amount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d1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20240"/>
            <a:ext cx="5349240" cy="199339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95059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d15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349240" cy="199339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71500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d15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96512"/>
            <a:ext cx="5349240" cy="199339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195059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d15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96512"/>
            <a:ext cx="5349240" cy="199339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61320" y="641908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078"/>
                </a:solidFill>
              </a:defRPr>
            </a:pPr>
            <a:r>
              <a:t>TEAM 5 •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829643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43"/>
                </a:solidFill>
                <a:latin typeface="Aptos Display"/>
              </a:defRPr>
            </a:pPr>
            <a:r>
              <a:rPr dirty="0"/>
              <a:t>Dashboard 1</a:t>
            </a:r>
            <a:r>
              <a:rPr lang="en-IN" dirty="0"/>
              <a:t>6</a:t>
            </a:r>
            <a:r>
              <a:rPr dirty="0"/>
              <a:t> — Customer Affordability &amp; Lending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8"/>
                </a:solidFill>
              </a:defRPr>
            </a:pPr>
            <a:r>
              <a:t>Owner: Person 4 • New dashboard — distinct analytical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Total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6440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High-Risk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7044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698.7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Credit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051560"/>
            <a:ext cx="2423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115568"/>
            <a:ext cx="2194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A43"/>
                </a:solidFill>
              </a:defRPr>
            </a:pPr>
            <a:r>
              <a:t>26.8K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43560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8"/>
                </a:solidFill>
              </a:defRPr>
            </a:pPr>
            <a:r>
              <a:t>Average Loan Amount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d1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20240"/>
            <a:ext cx="5349240" cy="199339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95059" y="1897380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d16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349240" cy="199339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71500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d16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96512"/>
            <a:ext cx="5349240" cy="199339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195059" y="4073652"/>
            <a:ext cx="5394959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d16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96512"/>
            <a:ext cx="5349240" cy="199339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61320" y="641908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078"/>
                </a:solidFill>
              </a:defRPr>
            </a:pPr>
            <a:r>
              <a:t>TEAM 5 •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A43"/>
                </a:solidFill>
                <a:latin typeface="Aptos Display"/>
              </a:defRPr>
            </a:pPr>
            <a:r>
              <a:t>Milestone 3 — Final Dashboard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70239" y="1067292"/>
            <a:ext cx="5303520" cy="4480560"/>
          </a:xfrm>
          <a:prstGeom prst="roundRect">
            <a:avLst/>
          </a:prstGeom>
          <a:solidFill>
            <a:srgbClr val="EBF4FC"/>
          </a:solidFill>
          <a:ln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chemeClr val="tx1"/>
                </a:solidFill>
              </a:rPr>
              <a:t>Milestone 3 Outcome</a:t>
            </a:r>
          </a:p>
          <a:p>
            <a:r>
              <a:rPr lang="en-IN" sz="1200" dirty="0">
                <a:solidFill>
                  <a:schemeClr val="tx1"/>
                </a:solidFill>
              </a:rPr>
              <a:t>• Developed </a:t>
            </a:r>
            <a:r>
              <a:rPr lang="en-IN" sz="1200" b="1" dirty="0">
                <a:solidFill>
                  <a:schemeClr val="tx1"/>
                </a:solidFill>
              </a:rPr>
              <a:t>16 financial risk dashboard views</a:t>
            </a:r>
            <a:r>
              <a:rPr lang="en-IN" sz="1200" dirty="0">
                <a:solidFill>
                  <a:schemeClr val="tx1"/>
                </a:solidFill>
              </a:rPr>
              <a:t> across 4 team members.</a:t>
            </a:r>
            <a:br>
              <a:rPr lang="en-IN" sz="1200" dirty="0">
                <a:solidFill>
                  <a:schemeClr val="tx1"/>
                </a:solidFill>
              </a:rPr>
            </a:br>
            <a:r>
              <a:rPr lang="en-IN" sz="1200" dirty="0">
                <a:solidFill>
                  <a:schemeClr val="tx1"/>
                </a:solidFill>
              </a:rPr>
              <a:t>• Retained the existing </a:t>
            </a:r>
            <a:r>
              <a:rPr lang="en-IN" sz="1200" b="1" dirty="0">
                <a:solidFill>
                  <a:schemeClr val="tx1"/>
                </a:solidFill>
              </a:rPr>
              <a:t>4 core dashboards</a:t>
            </a:r>
            <a:r>
              <a:rPr lang="en-IN" sz="1200" dirty="0">
                <a:solidFill>
                  <a:schemeClr val="tx1"/>
                </a:solidFill>
              </a:rPr>
              <a:t>, with Dashboard 3 covering two pages.</a:t>
            </a:r>
            <a:br>
              <a:rPr lang="en-IN" sz="1200" dirty="0">
                <a:solidFill>
                  <a:schemeClr val="tx1"/>
                </a:solidFill>
              </a:rPr>
            </a:br>
            <a:r>
              <a:rPr lang="en-IN" sz="1200" dirty="0">
                <a:solidFill>
                  <a:schemeClr val="tx1"/>
                </a:solidFill>
              </a:rPr>
              <a:t>• </a:t>
            </a:r>
            <a:r>
              <a:rPr lang="en-IN" sz="1200" b="1" dirty="0">
                <a:solidFill>
                  <a:schemeClr val="tx1"/>
                </a:solidFill>
              </a:rPr>
              <a:t>Unique dashboards</a:t>
            </a:r>
            <a:r>
              <a:rPr lang="en-IN" sz="1200" dirty="0">
                <a:solidFill>
                  <a:schemeClr val="tx1"/>
                </a:solidFill>
              </a:rPr>
              <a:t> covering income, assets, demographics, loans, payment </a:t>
            </a:r>
            <a:r>
              <a:rPr lang="en-IN" sz="1200" dirty="0" err="1">
                <a:solidFill>
                  <a:schemeClr val="tx1"/>
                </a:solidFill>
              </a:rPr>
              <a:t>behavior</a:t>
            </a:r>
            <a:r>
              <a:rPr lang="en-IN" sz="1200" dirty="0">
                <a:solidFill>
                  <a:schemeClr val="tx1"/>
                </a:solidFill>
              </a:rPr>
              <a:t>, employment, DTI, defaults, credit quality, geography, education and affordability.</a:t>
            </a:r>
            <a:br>
              <a:rPr lang="en-IN" sz="1200" dirty="0">
                <a:solidFill>
                  <a:schemeClr val="tx1"/>
                </a:solidFill>
              </a:rPr>
            </a:br>
            <a:r>
              <a:rPr lang="en-IN" sz="1200" dirty="0">
                <a:solidFill>
                  <a:schemeClr val="tx1"/>
                </a:solidFill>
              </a:rPr>
              <a:t>• Created KPI-based and interactive visualizations for </a:t>
            </a:r>
            <a:r>
              <a:rPr lang="en-IN" sz="1200" b="1" dirty="0">
                <a:solidFill>
                  <a:schemeClr val="tx1"/>
                </a:solidFill>
              </a:rPr>
              <a:t>customer risk assessment and segmentation</a:t>
            </a:r>
            <a:r>
              <a:rPr lang="en-IN" sz="1200" dirty="0">
                <a:solidFill>
                  <a:schemeClr val="tx1"/>
                </a:solidFill>
              </a:rPr>
              <a:t>.</a:t>
            </a:r>
            <a:br>
              <a:rPr lang="en-IN" sz="1200" dirty="0">
                <a:solidFill>
                  <a:schemeClr val="tx1"/>
                </a:solidFill>
              </a:rPr>
            </a:br>
            <a:r>
              <a:rPr lang="en-IN" sz="1200" dirty="0">
                <a:solidFill>
                  <a:schemeClr val="tx1"/>
                </a:solidFill>
              </a:rPr>
              <a:t>• Enabled detailed analysis of </a:t>
            </a:r>
            <a:r>
              <a:rPr lang="en-IN" sz="1200" b="1" dirty="0">
                <a:solidFill>
                  <a:schemeClr val="tx1"/>
                </a:solidFill>
              </a:rPr>
              <a:t>high-risk customers and financial exposure</a:t>
            </a:r>
            <a:r>
              <a:rPr lang="en-IN" sz="12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82A43"/>
                </a:solidFill>
              </a:defRPr>
            </a:pPr>
            <a:r>
              <a:t>TEAM – 5  |  Infosys Internship – Data Visualization  |  Milestone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61320" y="641908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7078"/>
                </a:solidFill>
              </a:defRPr>
            </a:pPr>
            <a:r>
              <a:t>TEAM 5 •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891</Words>
  <Application>Microsoft Office PowerPoint</Application>
  <PresentationFormat>Widescreen</PresentationFormat>
  <Paragraphs>200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Bayya santhosh</dc:creator>
  <cp:keywords/>
  <dc:description>generated using python-pptx</dc:description>
  <cp:lastModifiedBy>Bayya Santhosh</cp:lastModifiedBy>
  <cp:revision>6</cp:revision>
  <dcterms:created xsi:type="dcterms:W3CDTF">2013-01-27T09:14:16Z</dcterms:created>
  <dcterms:modified xsi:type="dcterms:W3CDTF">2026-09-01T10:38:42Z</dcterms:modified>
  <cp:category/>
</cp:coreProperties>
</file>