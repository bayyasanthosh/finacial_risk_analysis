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86" r:id="rId5"/>
    <p:sldId id="261" r:id="rId6"/>
    <p:sldId id="282" r:id="rId7"/>
    <p:sldId id="283" r:id="rId8"/>
    <p:sldId id="284" r:id="rId9"/>
    <p:sldId id="285" r:id="rId10"/>
    <p:sldId id="266" r:id="rId11"/>
    <p:sldId id="267" r:id="rId12"/>
    <p:sldId id="268" r:id="rId13"/>
    <p:sldId id="269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9273E"/>
          </a:solidFill>
          <a:ln>
            <a:solidFill>
              <a:srgbClr val="192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64040" y="1097280"/>
            <a:ext cx="914400" cy="914400"/>
          </a:xfrm>
          <a:prstGeom prst="ellipse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95560" y="1508760"/>
            <a:ext cx="594360" cy="594360"/>
          </a:xfrm>
          <a:prstGeom prst="ellipse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46920" y="2011680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47548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47BEAA"/>
                </a:solidFill>
                <a:latin typeface="Aptos"/>
              </a:rP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950569" cy="153272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4800" b="1" dirty="0">
                <a:solidFill>
                  <a:srgbClr val="FFFFFF"/>
                </a:solidFill>
                <a:latin typeface="Aptos"/>
              </a:rPr>
              <a:t>Financial Risk
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4377032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Infosys Data Visualization Internship  •  Team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38928"/>
            <a:ext cx="7318991" cy="48628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0" dirty="0">
                <a:solidFill>
                  <a:srgbClr val="AAB9CD"/>
                </a:solidFill>
                <a:latin typeface="Aptos"/>
              </a:rPr>
              <a:t>Praharsha  •  Sindhura  •  Madeeha  •  Santhosh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558953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2700" b="1" dirty="0">
                <a:solidFill>
                  <a:srgbClr val="0F1B2D"/>
                </a:solidFill>
                <a:latin typeface="Aptos"/>
              </a:rPr>
              <a:t>CONTEXT</a:t>
            </a:r>
            <a:endParaRPr sz="2700" b="1" dirty="0">
              <a:solidFill>
                <a:srgbClr val="0F1B2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565" y="1518838"/>
            <a:ext cx="5501641" cy="3820324"/>
          </a:xfrm>
          <a:prstGeom prst="roundRect">
            <a:avLst>
              <a:gd name="adj" fmla="val 12000"/>
            </a:avLst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853695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dirty="0">
                <a:solidFill>
                  <a:srgbClr val="47BEAA"/>
                </a:solidFill>
                <a:latin typeface="Aptos"/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8214"/>
            <a:ext cx="5174717" cy="15173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0" dirty="0">
                <a:solidFill>
                  <a:srgbClr val="FFFFFF"/>
                </a:solidFill>
                <a:latin typeface="Aptos"/>
              </a:rPr>
              <a:t>Financial datasets contain many customer, credit and repayment attributes. Without preprocessing and visualization, </a:t>
            </a:r>
            <a:endParaRPr lang="en-IN" sz="19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900" b="0" dirty="0">
                <a:solidFill>
                  <a:srgbClr val="FFFFFF"/>
                </a:solidFill>
                <a:latin typeface="Aptos"/>
              </a:rPr>
              <a:t>important risk patterns can be difficult to interpret quickly.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2743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F9D8B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40280"/>
            <a:ext cx="5371663" cy="2539157"/>
          </a:xfrm>
          <a:prstGeom prst="rect">
            <a:avLst/>
          </a:prstGeom>
          <a:noFill/>
        </p:spPr>
        <p:txBody>
          <a:bodyPr wrap="none" lIns="45720" r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Assess customer risk clearly across Low, Medium and </a:t>
            </a:r>
            <a:endParaRPr lang="en-IN" dirty="0"/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lang="en-IN" dirty="0"/>
              <a:t>    </a:t>
            </a:r>
            <a:r>
              <a:rPr dirty="0"/>
              <a:t>High segments.</a:t>
            </a:r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Discover patterns using credit, income, loans, </a:t>
            </a:r>
            <a:endParaRPr lang="en-IN" dirty="0"/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payment history and DTI.</a:t>
            </a:r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Build an executive-level view of key financial indicators.</a:t>
            </a:r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dirty="0"/>
              <a:t>• Support proactive monitoring through risk-focused </a:t>
            </a:r>
            <a:endParaRPr lang="en-IN" dirty="0"/>
          </a:p>
          <a:p>
            <a:pPr>
              <a:spcAft>
                <a:spcPts val="800"/>
              </a:spcAft>
              <a:defRPr sz="1700">
                <a:solidFill>
                  <a:srgbClr val="222D3D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dashboard 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3595" y="481201"/>
            <a:ext cx="2773965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 dirty="0">
                <a:solidFill>
                  <a:srgbClr val="0F1B2D"/>
                </a:solidFill>
                <a:latin typeface="Aptos"/>
              </a:rPr>
              <a:t>Dataset </a:t>
            </a:r>
            <a:r>
              <a:rPr lang="en-IN" sz="2700" b="1" dirty="0">
                <a:solidFill>
                  <a:srgbClr val="0F1B2D"/>
                </a:solidFill>
                <a:latin typeface="Aptos"/>
              </a:rPr>
              <a:t>overview</a:t>
            </a:r>
            <a:endParaRPr sz="2700" b="1" dirty="0">
              <a:solidFill>
                <a:srgbClr val="0F1B2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114300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73351"/>
            <a:ext cx="20574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RAW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20574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16,500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0876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54680" y="1508760"/>
            <a:ext cx="64008" cy="114300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673351"/>
            <a:ext cx="20574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ORIGINAL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947672"/>
            <a:ext cx="20574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508760"/>
            <a:ext cx="23774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1508760"/>
            <a:ext cx="64008" cy="114300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1673351"/>
            <a:ext cx="20574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DUPLICATES IDENTIFIED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1947672"/>
            <a:ext cx="20574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50876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1508760"/>
            <a:ext cx="64008" cy="1143000"/>
          </a:xfrm>
          <a:prstGeom prst="rect">
            <a:avLst/>
          </a:prstGeom>
          <a:solidFill>
            <a:srgbClr val="399664"/>
          </a:solidFill>
          <a:ln>
            <a:solidFill>
              <a:srgbClr val="39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1673351"/>
            <a:ext cx="24231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RETAINED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1947672"/>
            <a:ext cx="24231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0F1B2D"/>
                </a:solidFill>
                <a:latin typeface="Aptos"/>
              </a:rPr>
              <a:t>Core financial and customer attributes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7472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356616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Age &amp; demographics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47472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93008" y="356616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Income &amp; credit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977639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06908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Loan amount &amp; purpose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977639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93008" y="406908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Employment &amp; job tenure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48056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57200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Payment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448056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93008" y="457200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Debt-to-income ratio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8348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507492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Assets &amp; dependents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498348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93008" y="507492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Previous defaults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48640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557784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Location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37560" y="5486400"/>
            <a:ext cx="251460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93008" y="5577840"/>
            <a:ext cx="21945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22D3D"/>
                </a:solidFill>
                <a:latin typeface="Aptos"/>
              </a:rPr>
              <a:t>Risk rating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2971800"/>
            <a:ext cx="45720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3291840"/>
            <a:ext cx="38404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What the dataset supports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49039"/>
            <a:ext cx="3840480" cy="1417320"/>
          </a:xfrm>
          <a:prstGeom prst="rect">
            <a:avLst/>
          </a:prstGeom>
          <a:noFill/>
        </p:spPr>
        <p:txBody>
          <a:bodyPr wrap="none" lIns="45720" r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Customer-level financial profiling</a:t>
            </a:r>
          </a:p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Risk segmentation and comparison</a:t>
            </a:r>
          </a:p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Loan and repayment analysis</a:t>
            </a:r>
          </a:p>
          <a:p>
            <a:pPr>
              <a:spcAft>
                <a:spcPts val="800"/>
              </a:spcAft>
              <a:defRPr sz="1500">
                <a:solidFill>
                  <a:srgbClr val="222D3D"/>
                </a:solidFill>
                <a:latin typeface="Aptos"/>
              </a:defRPr>
            </a:pPr>
            <a:r>
              <a:t>• Preparation for further modeling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2249A8-BC9E-A64F-5B5A-66DD192FDFC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C59C-B1CB-47C4-38B9-4DC17966D5B3}"/>
              </a:ext>
            </a:extLst>
          </p:cNvPr>
          <p:cNvSpPr txBox="1"/>
          <p:nvPr/>
        </p:nvSpPr>
        <p:spPr>
          <a:xfrm>
            <a:off x="502920" y="382236"/>
            <a:ext cx="813816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rPr sz="3200" dirty="0">
                <a:solidFill>
                  <a:schemeClr val="tx2">
                    <a:lumMod val="50000"/>
                  </a:schemeClr>
                </a:solidFill>
              </a:rPr>
              <a:t>Data Cleaning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64768-B2E4-DBD9-A725-697EAAF99C60}"/>
              </a:ext>
            </a:extLst>
          </p:cNvPr>
          <p:cNvSpPr txBox="1"/>
          <p:nvPr/>
        </p:nvSpPr>
        <p:spPr>
          <a:xfrm>
            <a:off x="8412480" y="164592"/>
            <a:ext cx="29260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defRPr sz="1100" b="0">
                <a:solidFill>
                  <a:srgbClr val="D2DDED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71066-4F3B-8490-C9FC-364CD3B6D727}"/>
              </a:ext>
            </a:extLst>
          </p:cNvPr>
          <p:cNvSpPr txBox="1"/>
          <p:nvPr/>
        </p:nvSpPr>
        <p:spPr>
          <a:xfrm>
            <a:off x="594360" y="1234440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200" b="1">
                <a:solidFill>
                  <a:srgbClr val="3467A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B3FD9BD7-5BD2-C1BC-B054-91163CC9AED4}"/>
              </a:ext>
            </a:extLst>
          </p:cNvPr>
          <p:cNvSpPr/>
          <p:nvPr/>
        </p:nvSpPr>
        <p:spPr>
          <a:xfrm>
            <a:off x="594360" y="1600200"/>
            <a:ext cx="24871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F1159-4CDD-ABF0-0273-A827FE29F9DF}"/>
              </a:ext>
            </a:extLst>
          </p:cNvPr>
          <p:cNvSpPr/>
          <p:nvPr/>
        </p:nvSpPr>
        <p:spPr>
          <a:xfrm>
            <a:off x="594360" y="1600200"/>
            <a:ext cx="73152" cy="1920240"/>
          </a:xfrm>
          <a:prstGeom prst="rect">
            <a:avLst/>
          </a:prstGeom>
          <a:solidFill>
            <a:srgbClr val="34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82DF9-1558-2438-58CF-CCBAD37FAC5C}"/>
              </a:ext>
            </a:extLst>
          </p:cNvPr>
          <p:cNvSpPr txBox="1"/>
          <p:nvPr/>
        </p:nvSpPr>
        <p:spPr>
          <a:xfrm>
            <a:off x="777240" y="1719072"/>
            <a:ext cx="2167128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500" b="1">
                <a:solidFill>
                  <a:srgbClr val="19273F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41A2BD-21EA-665E-F12B-58D067AF8D3A}"/>
              </a:ext>
            </a:extLst>
          </p:cNvPr>
          <p:cNvSpPr txBox="1"/>
          <p:nvPr/>
        </p:nvSpPr>
        <p:spPr>
          <a:xfrm>
            <a:off x="777240" y="207568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300" b="0">
                <a:solidFill>
                  <a:srgbClr val="2B313B"/>
                </a:solidFill>
                <a:latin typeface="Aptos"/>
              </a:defRPr>
            </a:pPr>
            <a:r>
              <a:t>Reviewed rows, columns, missing values and data types.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8DF7E1-FFBF-6E16-B345-70B9E0A13634}"/>
              </a:ext>
            </a:extLst>
          </p:cNvPr>
          <p:cNvSpPr txBox="1"/>
          <p:nvPr/>
        </p:nvSpPr>
        <p:spPr>
          <a:xfrm>
            <a:off x="3383279" y="1234440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200" b="1">
                <a:solidFill>
                  <a:srgbClr val="E1893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82B61515-BEF5-F080-F27B-73DF4EE258F2}"/>
              </a:ext>
            </a:extLst>
          </p:cNvPr>
          <p:cNvSpPr/>
          <p:nvPr/>
        </p:nvSpPr>
        <p:spPr>
          <a:xfrm>
            <a:off x="3383279" y="1600200"/>
            <a:ext cx="24871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1FC97-6CED-5DFE-560C-3DDA81226781}"/>
              </a:ext>
            </a:extLst>
          </p:cNvPr>
          <p:cNvSpPr/>
          <p:nvPr/>
        </p:nvSpPr>
        <p:spPr>
          <a:xfrm>
            <a:off x="3383279" y="1600200"/>
            <a:ext cx="73152" cy="1920240"/>
          </a:xfrm>
          <a:prstGeom prst="rect">
            <a:avLst/>
          </a:prstGeom>
          <a:solidFill>
            <a:srgbClr val="E1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2EE7EE-DF45-C681-0861-8AB5E6F239F0}"/>
              </a:ext>
            </a:extLst>
          </p:cNvPr>
          <p:cNvSpPr txBox="1"/>
          <p:nvPr/>
        </p:nvSpPr>
        <p:spPr>
          <a:xfrm>
            <a:off x="3566160" y="1719072"/>
            <a:ext cx="2167128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500" b="1">
                <a:solidFill>
                  <a:srgbClr val="19273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915ED3-4BD1-187F-CA3E-DACAE613FE58}"/>
              </a:ext>
            </a:extLst>
          </p:cNvPr>
          <p:cNvSpPr txBox="1"/>
          <p:nvPr/>
        </p:nvSpPr>
        <p:spPr>
          <a:xfrm>
            <a:off x="3566160" y="207568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300" b="0">
                <a:solidFill>
                  <a:srgbClr val="2B313B"/>
                </a:solidFill>
                <a:latin typeface="Aptos"/>
              </a:defRPr>
            </a:pPr>
            <a:r>
              <a:t>Addressed duplicate records and data-quality issues.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E8C227-E22A-3164-008E-F060CC7EA88D}"/>
              </a:ext>
            </a:extLst>
          </p:cNvPr>
          <p:cNvSpPr txBox="1"/>
          <p:nvPr/>
        </p:nvSpPr>
        <p:spPr>
          <a:xfrm>
            <a:off x="6172200" y="1234440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200" b="1">
                <a:solidFill>
                  <a:srgbClr val="268F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74524403-9661-0025-883F-F245224C3B38}"/>
              </a:ext>
            </a:extLst>
          </p:cNvPr>
          <p:cNvSpPr/>
          <p:nvPr/>
        </p:nvSpPr>
        <p:spPr>
          <a:xfrm>
            <a:off x="6172200" y="1600200"/>
            <a:ext cx="24871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FA6B110-4F7B-2087-0066-0BDC601DC8EC}"/>
              </a:ext>
            </a:extLst>
          </p:cNvPr>
          <p:cNvSpPr/>
          <p:nvPr/>
        </p:nvSpPr>
        <p:spPr>
          <a:xfrm>
            <a:off x="6172200" y="1600200"/>
            <a:ext cx="73152" cy="1920240"/>
          </a:xfrm>
          <a:prstGeom prst="rect">
            <a:avLst/>
          </a:prstGeom>
          <a:solidFill>
            <a:srgbClr val="26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AA4C31-76B6-55FA-2A21-DE342D9E73EB}"/>
              </a:ext>
            </a:extLst>
          </p:cNvPr>
          <p:cNvSpPr txBox="1"/>
          <p:nvPr/>
        </p:nvSpPr>
        <p:spPr>
          <a:xfrm>
            <a:off x="6355080" y="1719072"/>
            <a:ext cx="2167128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500" b="1">
                <a:solidFill>
                  <a:srgbClr val="19273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4C5053-1BFC-1F30-82D1-A556E28E45A7}"/>
              </a:ext>
            </a:extLst>
          </p:cNvPr>
          <p:cNvSpPr txBox="1"/>
          <p:nvPr/>
        </p:nvSpPr>
        <p:spPr>
          <a:xfrm>
            <a:off x="6355080" y="207568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300" b="0">
                <a:solidFill>
                  <a:srgbClr val="2B313B"/>
                </a:solidFill>
                <a:latin typeface="Aptos"/>
              </a:defRPr>
            </a:pPr>
            <a:r>
              <a:t>Improved consistency for numerical and categorical fields.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6B3F2E-EB64-1F60-337E-ABA66138E5E8}"/>
              </a:ext>
            </a:extLst>
          </p:cNvPr>
          <p:cNvSpPr txBox="1"/>
          <p:nvPr/>
        </p:nvSpPr>
        <p:spPr>
          <a:xfrm>
            <a:off x="8961119" y="1234440"/>
            <a:ext cx="457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200" b="1">
                <a:solidFill>
                  <a:srgbClr val="6F52A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1" name="Rounded Rectangle 22">
            <a:extLst>
              <a:ext uri="{FF2B5EF4-FFF2-40B4-BE49-F238E27FC236}">
                <a16:creationId xmlns:a16="http://schemas.microsoft.com/office/drawing/2014/main" id="{91CF759E-2F0B-1FDF-E93D-3BD4947B3893}"/>
              </a:ext>
            </a:extLst>
          </p:cNvPr>
          <p:cNvSpPr/>
          <p:nvPr/>
        </p:nvSpPr>
        <p:spPr>
          <a:xfrm>
            <a:off x="8961119" y="1600200"/>
            <a:ext cx="248716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2CFF7A-C75D-FFE6-E1AC-C17996131AF3}"/>
              </a:ext>
            </a:extLst>
          </p:cNvPr>
          <p:cNvSpPr/>
          <p:nvPr/>
        </p:nvSpPr>
        <p:spPr>
          <a:xfrm>
            <a:off x="8961119" y="1600200"/>
            <a:ext cx="73152" cy="1920240"/>
          </a:xfrm>
          <a:prstGeom prst="rect">
            <a:avLst/>
          </a:prstGeom>
          <a:solidFill>
            <a:srgbClr val="6F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CD2562-30E4-90AA-9083-3C09E072FD9B}"/>
              </a:ext>
            </a:extLst>
          </p:cNvPr>
          <p:cNvSpPr txBox="1"/>
          <p:nvPr/>
        </p:nvSpPr>
        <p:spPr>
          <a:xfrm>
            <a:off x="9143999" y="1719072"/>
            <a:ext cx="2167128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500" b="1">
                <a:solidFill>
                  <a:srgbClr val="19273F"/>
                </a:solidFill>
                <a:latin typeface="Aptos"/>
              </a:defRPr>
            </a:pPr>
            <a:r>
              <a:t>Retain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AFB364-111C-EEAB-50C2-0F8B8327AFCF}"/>
              </a:ext>
            </a:extLst>
          </p:cNvPr>
          <p:cNvSpPr txBox="1"/>
          <p:nvPr/>
        </p:nvSpPr>
        <p:spPr>
          <a:xfrm>
            <a:off x="9143999" y="2075688"/>
            <a:ext cx="2167128" cy="1353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300" b="0">
                <a:solidFill>
                  <a:srgbClr val="2B313B"/>
                </a:solidFill>
                <a:latin typeface="Aptos"/>
              </a:defRPr>
            </a:pPr>
            <a:r>
              <a:t>15,000 records were retained for further analysis.</a:t>
            </a:r>
          </a:p>
        </p:txBody>
      </p:sp>
      <p:sp>
        <p:nvSpPr>
          <p:cNvPr id="49" name="Rounded Rectangle 26">
            <a:extLst>
              <a:ext uri="{FF2B5EF4-FFF2-40B4-BE49-F238E27FC236}">
                <a16:creationId xmlns:a16="http://schemas.microsoft.com/office/drawing/2014/main" id="{1A70B7C7-C12D-535E-BB4D-19D2AA5D62FD}"/>
              </a:ext>
            </a:extLst>
          </p:cNvPr>
          <p:cNvSpPr/>
          <p:nvPr/>
        </p:nvSpPr>
        <p:spPr>
          <a:xfrm>
            <a:off x="594360" y="3977639"/>
            <a:ext cx="1100023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D53A51-5938-E339-4223-15871DC2B2F2}"/>
              </a:ext>
            </a:extLst>
          </p:cNvPr>
          <p:cNvSpPr/>
          <p:nvPr/>
        </p:nvSpPr>
        <p:spPr>
          <a:xfrm>
            <a:off x="594360" y="3977639"/>
            <a:ext cx="73152" cy="1417320"/>
          </a:xfrm>
          <a:prstGeom prst="rect">
            <a:avLst/>
          </a:prstGeom>
          <a:solidFill>
            <a:srgbClr val="41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19E8DDF-675C-4E7B-FC76-5DBF79910A5A}"/>
              </a:ext>
            </a:extLst>
          </p:cNvPr>
          <p:cNvSpPr txBox="1"/>
          <p:nvPr/>
        </p:nvSpPr>
        <p:spPr>
          <a:xfrm>
            <a:off x="777240" y="4087368"/>
            <a:ext cx="10680192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500" b="1">
                <a:solidFill>
                  <a:srgbClr val="19273F"/>
                </a:solidFill>
                <a:latin typeface="Aptos"/>
              </a:defRPr>
            </a:pPr>
            <a:r>
              <a:t>CLEANING OUTCOME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38AA30-1405-AB01-6899-E2FF9E85009D}"/>
              </a:ext>
            </a:extLst>
          </p:cNvPr>
          <p:cNvSpPr txBox="1"/>
          <p:nvPr/>
        </p:nvSpPr>
        <p:spPr>
          <a:xfrm>
            <a:off x="795528" y="4453127"/>
            <a:ext cx="106344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250" b="0">
                <a:solidFill>
                  <a:srgbClr val="2B313B"/>
                </a:solidFill>
                <a:latin typeface="Aptos"/>
              </a:defRPr>
            </a:pPr>
            <a:r>
              <a:t>• The cleaned dataset provided a consistent base for preprocessing and dashboard development.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C09C68-4F95-7B40-F2D5-0B588A68CCD1}"/>
              </a:ext>
            </a:extLst>
          </p:cNvPr>
          <p:cNvSpPr txBox="1"/>
          <p:nvPr/>
        </p:nvSpPr>
        <p:spPr>
          <a:xfrm>
            <a:off x="795528" y="4837175"/>
            <a:ext cx="106344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defRPr sz="1250" b="0">
                <a:solidFill>
                  <a:srgbClr val="2B313B"/>
                </a:solidFill>
                <a:latin typeface="Aptos"/>
              </a:defRPr>
            </a:pPr>
            <a:r>
              <a:t>• Duplicate records were removed before the final analysis dataset was used.</a:t>
            </a:r>
          </a:p>
        </p:txBody>
      </p:sp>
    </p:spTree>
    <p:extLst>
      <p:ext uri="{BB962C8B-B14F-4D97-AF65-F5344CB8AC3E}">
        <p14:creationId xmlns:p14="http://schemas.microsoft.com/office/powerpoint/2010/main" val="42526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2 •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39"/>
            <a:ext cx="6080759" cy="3456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2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989320" cy="3364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03720" y="153619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86600" y="1655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76479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645919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1645919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Rows, columns, missing values and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40487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0" y="2523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86600" y="263347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514600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Missing values &amp; numeric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27355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86600" y="33924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350215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3383280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Categorize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383280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Income, credit, loan and DTI bands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142231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86600" y="4261103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86600" y="4370831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251959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Encode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251959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Convert categories into 0/1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5010912"/>
            <a:ext cx="45262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086600" y="5129783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5239512"/>
            <a:ext cx="4572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5120640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Aptos"/>
              </a:rPr>
              <a:t>Select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120640"/>
            <a:ext cx="2331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47080"/>
                </a:solidFill>
                <a:latin typeface="Aptos"/>
              </a:rPr>
              <a:t>Retain relevant predictors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989320"/>
            <a:ext cx="4835996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dirty="0">
                <a:solidFill>
                  <a:srgbClr val="1F9D8B"/>
                </a:solidFill>
                <a:latin typeface="Aptos"/>
              </a:rPr>
              <a:t>Outcome: a structured, model-ready feature set for risk profiling and visualization.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High Risk Customer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Drill into the characteristics of customers classified as high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employment status
• Risk by loan purpose
• Average credit score by risk
• Overall risk distribution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High-risk customers can be isolated for review
• Employment and loan purpose add context
• Credit score supports risk comparison
• Overall distribution shows the wider risk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Provides a focused drill-down view for higher-risk customer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9/16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DA43C8-280F-E2C9-C5EB-0241CFBC739A}"/>
              </a:ext>
            </a:extLst>
          </p:cNvPr>
          <p:cNvSpPr/>
          <p:nvPr/>
        </p:nvSpPr>
        <p:spPr>
          <a:xfrm>
            <a:off x="187945" y="1266446"/>
            <a:ext cx="6939803" cy="51434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6D4D00D-B4EE-1300-C8AF-D314C832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1266446"/>
            <a:ext cx="6828897" cy="5052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Employment Stability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Study employment status and job stability as part of financial risk profiling.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employment status
• Average credit score by employment
• Risk by years at current job
• Employment-segment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Employment status can be compared across risk groups
• Credit quality adds financial context
• Job tenure provides stability context
• Employment filters support focused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Adds employment stability as a contextual risk dimension.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10/16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A13C06-9A50-F5F0-AF98-CF4247A84203}"/>
              </a:ext>
            </a:extLst>
          </p:cNvPr>
          <p:cNvSpPr/>
          <p:nvPr/>
        </p:nvSpPr>
        <p:spPr>
          <a:xfrm>
            <a:off x="88491" y="1152144"/>
            <a:ext cx="7025542" cy="51755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3C320CA-1207-B920-CB05-AAC56287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1280160"/>
            <a:ext cx="7052973" cy="4963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Debt-to-Income &amp; Financial Stress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Analyze debt burden and its relationship with financial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Average DTI by risk group
• DTI distribution
• Credit score vs DTI
• Loan amount vs financial stress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DTI provides a direct view of debt burden
• Risk groups can be compared using DTI
• Credit score adds a complementary signal
• Loan exposure can be viewed with financial stress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Makes debt burden easier to compare across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11/16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3A2EFA-496E-AC1B-D939-55B5B6B2C752}"/>
              </a:ext>
            </a:extLst>
          </p:cNvPr>
          <p:cNvSpPr/>
          <p:nvPr/>
        </p:nvSpPr>
        <p:spPr>
          <a:xfrm>
            <a:off x="98323" y="1152144"/>
            <a:ext cx="7029425" cy="52303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C4E812-4EEE-98AB-2032-2C716718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1271016"/>
            <a:ext cx="7079717" cy="50474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15568"/>
          </a:xfrm>
          <a:prstGeom prst="rect">
            <a:avLst/>
          </a:prstGeom>
          <a:solidFill>
            <a:srgbClr val="071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48056"/>
            <a:ext cx="10881360" cy="50292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Default Risk &amp; Repayment 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2048" y="1353312"/>
            <a:ext cx="42062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42048" y="1353312"/>
            <a:ext cx="50292" cy="94183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PURPOSE /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3931920" cy="484632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30" b="0">
                <a:solidFill>
                  <a:srgbClr val="2D3846"/>
                </a:solidFill>
                <a:latin typeface="Aptos"/>
              </a:rPr>
              <a:t>Examine previous defaults and repayment-related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8" y="2450592"/>
            <a:ext cx="4206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42048" y="2450592"/>
            <a:ext cx="50292" cy="1463040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560320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IMPORTANT VISUALIZATIONS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43784"/>
            <a:ext cx="3931920" cy="100584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60" b="0">
                <a:solidFill>
                  <a:srgbClr val="2D3846"/>
                </a:solidFill>
                <a:latin typeface="Aptos"/>
              </a:rPr>
              <a:t>• Risk by previous defaults
• Average loan by default history
• Average credit score by default history
• Risk by employment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42048" y="4069080"/>
            <a:ext cx="42062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42048" y="4069080"/>
            <a:ext cx="50292" cy="1389888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417880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KEY INSIGHTS /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462272"/>
            <a:ext cx="3931920" cy="93268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910" b="0">
                <a:solidFill>
                  <a:srgbClr val="2D3846"/>
                </a:solidFill>
                <a:latin typeface="Aptos"/>
              </a:rPr>
              <a:t>• Previous defaults provide historical risk context
• Loan exposure can be compared by default history
• Credit score adds credit-quality context
• Employment supports customer segmentation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2048" y="5623560"/>
            <a:ext cx="420624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42048" y="5623560"/>
            <a:ext cx="50292" cy="758952"/>
          </a:xfrm>
          <a:prstGeom prst="rect">
            <a:avLst/>
          </a:prstGeom>
          <a:solidFill>
            <a:srgbClr val="0D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5733288"/>
            <a:ext cx="3931920" cy="228600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1010" b="1">
                <a:solidFill>
                  <a:srgbClr val="071B39"/>
                </a:solidFill>
                <a:latin typeface="Aptos"/>
              </a:rPr>
              <a:t>APPLICATION /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016752"/>
            <a:ext cx="3931920" cy="301751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69" b="0">
                <a:solidFill>
                  <a:srgbClr val="2D3846"/>
                </a:solidFill>
                <a:latin typeface="Aptos"/>
              </a:rPr>
              <a:t>Supports default-focused risk and repayment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92240"/>
            <a:ext cx="658368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l"/>
            <a:r>
              <a:rPr sz="830" b="0">
                <a:solidFill>
                  <a:srgbClr val="697482"/>
                </a:solidFill>
                <a:latin typeface="Aptos"/>
              </a:rPr>
              <a:t>Infosys Internship  |  Data Visualization  |  Team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492240"/>
            <a:ext cx="685800" cy="201168"/>
          </a:xfrm>
          <a:prstGeom prst="rect">
            <a:avLst/>
          </a:prstGeom>
          <a:noFill/>
        </p:spPr>
        <p:txBody>
          <a:bodyPr wrap="none" lIns="54864" tIns="18288" rIns="54864" bIns="18288">
            <a:spAutoFit/>
          </a:bodyPr>
          <a:lstStyle/>
          <a:p>
            <a:pPr algn="r"/>
            <a:r>
              <a:rPr sz="830" b="1">
                <a:solidFill>
                  <a:srgbClr val="697482"/>
                </a:solidFill>
                <a:latin typeface="Aptos"/>
              </a:rPr>
              <a:t>12/16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2AB5B6-2F8D-1DCE-8122-ABF0A4949421}"/>
              </a:ext>
            </a:extLst>
          </p:cNvPr>
          <p:cNvSpPr/>
          <p:nvPr/>
        </p:nvSpPr>
        <p:spPr>
          <a:xfrm>
            <a:off x="108155" y="1271016"/>
            <a:ext cx="7005877" cy="51114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90B49C-6CA5-F6F0-283E-A62DD390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04" y="1353311"/>
            <a:ext cx="7005877" cy="4965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dirty="0">
                <a:solidFill>
                  <a:srgbClr val="1F9D8B"/>
                </a:solidFill>
                <a:latin typeface="Aptos"/>
              </a:rPr>
              <a:t>MILESTONE 4 • INTERACTIVE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Core risk assessment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301752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21945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Reported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194560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69680" y="2194560"/>
            <a:ext cx="64008" cy="82296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70848" y="2359152"/>
            <a:ext cx="19659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TOTAL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2633472"/>
            <a:ext cx="19659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127248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69680" y="3127248"/>
            <a:ext cx="64008" cy="82296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0848" y="3291840"/>
            <a:ext cx="19659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HIGH-RISK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3566160"/>
            <a:ext cx="19659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4059936"/>
            <a:ext cx="2286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4059936"/>
            <a:ext cx="64008" cy="82296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0848" y="4224528"/>
            <a:ext cx="19659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CREDIT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4498848"/>
            <a:ext cx="196596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699.09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074920"/>
            <a:ext cx="2456698" cy="39395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Use: quick assessment of overall risk </a:t>
            </a:r>
            <a:endParaRPr lang="en-IN" sz="1100" b="0" dirty="0">
              <a:solidFill>
                <a:srgbClr val="647080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distribution and customer risk patterns.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BE3460-3E90-30F7-AB82-35B648FAF656}"/>
              </a:ext>
            </a:extLst>
          </p:cNvPr>
          <p:cNvSpPr/>
          <p:nvPr/>
        </p:nvSpPr>
        <p:spPr>
          <a:xfrm>
            <a:off x="385718" y="1115568"/>
            <a:ext cx="7661002" cy="52486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102B629-9329-AEF8-A8D3-F434C8789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9" y="1239012"/>
            <a:ext cx="8202561" cy="5006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RISK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Predictive pattern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6002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600200"/>
            <a:ext cx="64008" cy="86868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76479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03911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69,909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65176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651760"/>
            <a:ext cx="64008" cy="86868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0808" y="281635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LOAN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309067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27,464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0332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703320"/>
            <a:ext cx="64008" cy="86868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0808" y="3867911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DTI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4142231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0.35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00600"/>
            <a:ext cx="25603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Indicators used for pattern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5230368"/>
            <a:ext cx="2560320" cy="8686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22D3D"/>
                </a:solidFill>
                <a:latin typeface="Aptos"/>
              </a:rPr>
              <a:t>Previous defaults
Payment history
Credit score
Debt-to-income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650CCE-D0F3-F90F-DEA6-AF3860853197}"/>
              </a:ext>
            </a:extLst>
          </p:cNvPr>
          <p:cNvSpPr/>
          <p:nvPr/>
        </p:nvSpPr>
        <p:spPr>
          <a:xfrm>
            <a:off x="809465" y="1491063"/>
            <a:ext cx="6906621" cy="4599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5397D7E-BA32-8864-2C9C-C228C5BA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06" y="1367620"/>
            <a:ext cx="7946036" cy="4955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MANAGEMENT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Executive command-center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30175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0" y="1737360"/>
            <a:ext cx="23774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Aptos"/>
              </a:rPr>
              <a:t>What management can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2240280" cy="2377440"/>
          </a:xfrm>
          <a:prstGeom prst="rect">
            <a:avLst/>
          </a:prstGeom>
          <a:noFill/>
        </p:spPr>
        <p:txBody>
          <a:bodyPr wrap="none" lIns="45720" r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Overall risk exposure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Loan amount by risk category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Customer composition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Employment distribution</a:t>
            </a:r>
          </a:p>
          <a:p>
            <a:pPr>
              <a:spcAft>
                <a:spcPts val="800"/>
              </a:spcAft>
              <a:defRPr sz="1300">
                <a:solidFill>
                  <a:srgbClr val="222D3D"/>
                </a:solidFill>
                <a:latin typeface="Aptos"/>
              </a:defRPr>
            </a:pPr>
            <a:r>
              <a:t>• Priority segments for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983480"/>
            <a:ext cx="9144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F9D8B"/>
                </a:solidFill>
                <a:latin typeface="Aptos"/>
              </a:rPr>
              <a:t>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285232"/>
            <a:ext cx="3165004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Key indicators are centralized in one analytical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dirty="0">
                <a:solidFill>
                  <a:srgbClr val="647080"/>
                </a:solidFill>
                <a:latin typeface="Aptos"/>
              </a:rPr>
              <a:t>TEAM 5  •</a:t>
            </a:r>
            <a:r>
              <a:rPr lang="en-US" sz="800" b="0" dirty="0">
                <a:solidFill>
                  <a:srgbClr val="647080"/>
                </a:solidFill>
                <a:latin typeface="Aptos"/>
              </a:rPr>
              <a:t> </a:t>
            </a:r>
            <a:r>
              <a:rPr sz="800" b="0" dirty="0">
                <a:solidFill>
                  <a:srgbClr val="647080"/>
                </a:solidFill>
                <a:latin typeface="Aptos"/>
              </a:rPr>
              <a:t> INFOSYS DATA VISUALIZATION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A51BE-6607-19E5-C9DA-9F2AA43EE618}"/>
              </a:ext>
            </a:extLst>
          </p:cNvPr>
          <p:cNvSpPr/>
          <p:nvPr/>
        </p:nvSpPr>
        <p:spPr>
          <a:xfrm>
            <a:off x="385718" y="1527049"/>
            <a:ext cx="7843882" cy="4599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2E5DCB-D2DA-71A4-67FD-5D3B1AB3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18" y="1321308"/>
            <a:ext cx="7843881" cy="50429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8B"/>
                </a:solidFill>
                <a:latin typeface="Aptos"/>
              </a:rPr>
              <a:t>MILESTONE 4 • PROACTIVE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0F1B2D"/>
                </a:solidFill>
                <a:latin typeface="Aptos"/>
              </a:rPr>
              <a:t>Monitoring, alerting &amp; performance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685800" cy="41148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49640" y="160020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49640" y="1600200"/>
            <a:ext cx="64008" cy="868680"/>
          </a:xfrm>
          <a:prstGeom prst="rect">
            <a:avLst/>
          </a:prstGeom>
          <a:solidFill>
            <a:srgbClr val="CA4C4C"/>
          </a:solidFill>
          <a:ln>
            <a:solidFill>
              <a:srgbClr val="C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76479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HIGH-RISK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203911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1,500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65176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49640" y="2651760"/>
            <a:ext cx="64008" cy="868680"/>
          </a:xfrm>
          <a:prstGeom prst="rect">
            <a:avLst/>
          </a:prstGeom>
          <a:solidFill>
            <a:srgbClr val="EAB14C"/>
          </a:solidFill>
          <a:ln>
            <a:solidFill>
              <a:srgbClr val="EA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50808" y="2816352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CUSTOMERS WITH DEFAULTS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3090672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12,429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03320"/>
            <a:ext cx="26517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3703320"/>
            <a:ext cx="64008" cy="868680"/>
          </a:xfrm>
          <a:prstGeom prst="rect">
            <a:avLst/>
          </a:prstGeom>
          <a:solidFill>
            <a:srgbClr val="1F9D8B"/>
          </a:solidFill>
          <a:ln>
            <a:solidFill>
              <a:srgbClr val="1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0808" y="3867911"/>
            <a:ext cx="233172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647080"/>
                </a:solidFill>
                <a:latin typeface="Aptos"/>
              </a:rPr>
              <a:t>AVERAGE ASSETS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4142231"/>
            <a:ext cx="23317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>
                <a:solidFill>
                  <a:srgbClr val="0F1B2D"/>
                </a:solidFill>
                <a:latin typeface="Aptos"/>
              </a:rPr>
              <a:t>159,685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846320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Aptos"/>
              </a:rPr>
              <a:t>Monitoring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03" y="5120640"/>
            <a:ext cx="3530321" cy="39395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 dirty="0">
                <a:solidFill>
                  <a:srgbClr val="647080"/>
                </a:solidFill>
                <a:latin typeface="Aptos"/>
              </a:rPr>
              <a:t>Payment behavior • credit-score bands • customer segments • income/assets 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68580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47080"/>
                </a:solidFill>
                <a:latin typeface="Aptos"/>
              </a:rPr>
              <a:t>TEAM 5  •  INFOSYS DATA VISUALIZATION INTERNSHIP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47080"/>
                </a:solidFill>
                <a:latin typeface="Aptos"/>
              </a:rPr>
              <a:t>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6A0763-C92C-7E76-97EB-4DF725F51DEA}"/>
              </a:ext>
            </a:extLst>
          </p:cNvPr>
          <p:cNvSpPr/>
          <p:nvPr/>
        </p:nvSpPr>
        <p:spPr>
          <a:xfrm>
            <a:off x="900905" y="1321308"/>
            <a:ext cx="6906621" cy="45994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991A172-521D-066C-ADF1-EEFC0E83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6" y="1343406"/>
            <a:ext cx="8106058" cy="49796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286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47BEAA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8138160" cy="685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raw records to risk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1195009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 dirty="0">
                <a:solidFill>
                  <a:srgbClr val="CDD8E6"/>
                </a:solidFill>
                <a:latin typeface="Aptos"/>
              </a:rPr>
              <a:t>Across four milestones, the project moved through data understanding, preprocessing, dashboard development and interactive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16,500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06908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AB14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406908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AB14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16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069080"/>
            <a:ext cx="3200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AB14C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703320"/>
            <a:ext cx="2331720" cy="1234440"/>
          </a:xfrm>
          <a:prstGeom prst="roundRect">
            <a:avLst>
              <a:gd name="adj" fmla="val 12000"/>
            </a:avLst>
          </a:prstGeom>
          <a:solidFill>
            <a:srgbClr val="19273E"/>
          </a:solidFill>
          <a:ln>
            <a:solidFill>
              <a:srgbClr val="37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2" y="3931920"/>
            <a:ext cx="20116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7BEAA"/>
                </a:solidFill>
                <a:latin typeface="Aptos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279392"/>
            <a:ext cx="20116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Risk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AB9CD"/>
                </a:solidFill>
                <a:latin typeface="Aptos"/>
              </a:rPr>
              <a:t>Team 5  •  Praharsha  •  Sindhura  •  Madeeha  •  Santhosh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solidFill>
              <a:srgbClr val="0F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03370" y="1974532"/>
            <a:ext cx="3168968" cy="7017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42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3395" y="3063240"/>
            <a:ext cx="50292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900" b="1" dirty="0">
                <a:solidFill>
                  <a:srgbClr val="47BEAA"/>
                </a:solidFill>
                <a:latin typeface="Aptos"/>
              </a:rPr>
              <a:t>Financial Risk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965</Words>
  <Application>Microsoft Office PowerPoint</Application>
  <PresentationFormat>Widescreen</PresentationFormat>
  <Paragraphs>192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Madeeha</dc:creator>
  <cp:keywords/>
  <dc:description>generated using python-pptx</dc:description>
  <cp:lastModifiedBy>Shaik Madeeha Kouser</cp:lastModifiedBy>
  <cp:revision>7</cp:revision>
  <dcterms:created xsi:type="dcterms:W3CDTF">2013-01-27T09:14:16Z</dcterms:created>
  <dcterms:modified xsi:type="dcterms:W3CDTF">2026-09-24T14:27:31Z</dcterms:modified>
  <cp:category/>
</cp:coreProperties>
</file>