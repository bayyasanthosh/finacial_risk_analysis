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7" d="100"/>
          <a:sy n="67" d="100"/>
        </p:scale>
        <p:origin x="83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340"/>
        </a:solidFill>
        <a:effectLst/>
      </p:bgPr>
    </p:bg>
    <p:spTree>
      <p:nvGrpSpPr>
        <p:cNvPr id="1" name=""/>
        <p:cNvGrpSpPr/>
        <p:nvPr/>
      </p:nvGrpSpPr>
      <p:grpSpPr>
        <a:xfrm>
          <a:off x="0" y="0"/>
          <a:ext cx="0" cy="0"/>
          <a:chOff x="0" y="0"/>
          <a:chExt cx="0" cy="0"/>
        </a:xfrm>
      </p:grpSpPr>
      <p:sp>
        <p:nvSpPr>
          <p:cNvPr id="2" name="TextBox 1"/>
          <p:cNvSpPr txBox="1"/>
          <p:nvPr/>
        </p:nvSpPr>
        <p:spPr>
          <a:xfrm>
            <a:off x="2573902" y="1280160"/>
            <a:ext cx="7013715" cy="1446550"/>
          </a:xfrm>
          <a:prstGeom prst="rect">
            <a:avLst/>
          </a:prstGeom>
          <a:noFill/>
        </p:spPr>
        <p:txBody>
          <a:bodyPr wrap="none">
            <a:spAutoFit/>
          </a:bodyPr>
          <a:lstStyle/>
          <a:p>
            <a:pPr algn="ctr">
              <a:defRPr sz="3600" b="1">
                <a:solidFill>
                  <a:srgbClr val="FFFFFF"/>
                </a:solidFill>
              </a:defRPr>
            </a:pPr>
            <a:r>
              <a:rPr sz="4400" dirty="0"/>
              <a:t>Financial Risk Assessment</a:t>
            </a:r>
            <a:br>
              <a:rPr sz="4400" dirty="0"/>
            </a:br>
            <a:r>
              <a:rPr sz="4400" dirty="0"/>
              <a:t>Using Interactive Dashboards</a:t>
            </a:r>
          </a:p>
        </p:txBody>
      </p:sp>
      <p:sp>
        <p:nvSpPr>
          <p:cNvPr id="3" name="TextBox 2"/>
          <p:cNvSpPr txBox="1"/>
          <p:nvPr/>
        </p:nvSpPr>
        <p:spPr>
          <a:xfrm>
            <a:off x="2940252" y="4323874"/>
            <a:ext cx="6281015" cy="1231106"/>
          </a:xfrm>
          <a:prstGeom prst="rect">
            <a:avLst/>
          </a:prstGeom>
          <a:noFill/>
        </p:spPr>
        <p:txBody>
          <a:bodyPr wrap="none">
            <a:spAutoFit/>
          </a:bodyPr>
          <a:lstStyle/>
          <a:p>
            <a:pPr algn="ctr">
              <a:defRPr sz="2400" b="1">
                <a:solidFill>
                  <a:srgbClr val="FFFFFF"/>
                </a:solidFill>
              </a:defRPr>
            </a:pPr>
            <a:r>
              <a:rPr sz="3200" dirty="0"/>
              <a:t>TEAM – 5</a:t>
            </a:r>
          </a:p>
          <a:p>
            <a:br>
              <a:rPr dirty="0"/>
            </a:br>
            <a:r>
              <a:rPr lang="en-US" dirty="0">
                <a:solidFill>
                  <a:schemeClr val="bg1"/>
                </a:solidFill>
              </a:rPr>
              <a:t>  </a:t>
            </a:r>
            <a:r>
              <a:rPr sz="2400" dirty="0">
                <a:solidFill>
                  <a:schemeClr val="bg1"/>
                </a:solidFill>
              </a:rPr>
              <a:t>Praharsha  •  Sindhura  •  Madeeha  •  Santhosh</a:t>
            </a:r>
          </a:p>
        </p:txBody>
      </p:sp>
      <p:sp>
        <p:nvSpPr>
          <p:cNvPr id="4" name="TextBox 3"/>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Introduction</a:t>
            </a:r>
          </a:p>
        </p:txBody>
      </p:sp>
      <p:sp>
        <p:nvSpPr>
          <p:cNvPr id="4" name="TextBox 3"/>
          <p:cNvSpPr txBox="1"/>
          <p:nvPr/>
        </p:nvSpPr>
        <p:spPr>
          <a:xfrm>
            <a:off x="731520" y="1508760"/>
            <a:ext cx="10789920" cy="4093428"/>
          </a:xfrm>
          <a:prstGeom prst="rect">
            <a:avLst/>
          </a:prstGeom>
          <a:noFill/>
        </p:spPr>
        <p:txBody>
          <a:bodyPr wrap="square">
            <a:spAutoFit/>
          </a:bodyPr>
          <a:lstStyle/>
          <a:p>
            <a:pPr>
              <a:spcAft>
                <a:spcPts val="1200"/>
              </a:spcAft>
              <a:defRPr sz="1800">
                <a:solidFill>
                  <a:srgbClr val="232830"/>
                </a:solidFill>
                <a:latin typeface="Aptos"/>
              </a:defRPr>
            </a:pPr>
            <a:r>
              <a:rPr sz="2000" dirty="0"/>
              <a:t>In today’s data-driven environment, large volumes of information can hide important patterns and potential risks. Turning this raw information into clear insights is essential for faster and smarter decision-making.</a:t>
            </a:r>
            <a:br>
              <a:rPr sz="2000" dirty="0"/>
            </a:br>
            <a:br>
              <a:rPr sz="2000" dirty="0"/>
            </a:br>
            <a:r>
              <a:rPr sz="2000" dirty="0"/>
              <a:t>Our project uses preprocessed financial risk data and interactive analytics to transform complex information into meaningful visual stories. Through dashboards, we can quickly assess risk, discover patterns, monitor key indicators, and support proactive decision-making.</a:t>
            </a:r>
            <a:br>
              <a:rPr sz="2000" dirty="0"/>
            </a:br>
            <a:br>
              <a:rPr sz="2000" dirty="0"/>
            </a:br>
            <a:r>
              <a:rPr sz="2000" dirty="0"/>
              <a:t>The framework brings together four major perspectives:</a:t>
            </a:r>
            <a:br>
              <a:rPr sz="2000" dirty="0"/>
            </a:br>
            <a:r>
              <a:rPr sz="2000" dirty="0"/>
              <a:t>• Risk Assessment</a:t>
            </a:r>
            <a:br>
              <a:rPr sz="2000" dirty="0"/>
            </a:br>
            <a:r>
              <a:rPr sz="2000" dirty="0"/>
              <a:t>• Predictive Analytics</a:t>
            </a:r>
            <a:br>
              <a:rPr sz="2000" dirty="0"/>
            </a:br>
            <a:r>
              <a:rPr sz="2000" dirty="0"/>
              <a:t>• Executive-Level Monitoring</a:t>
            </a:r>
            <a:br>
              <a:rPr sz="2000" dirty="0"/>
            </a:br>
            <a:r>
              <a:rPr sz="2000" dirty="0"/>
              <a:t>• Alerting and Performance Optimization</a:t>
            </a:r>
          </a:p>
        </p:txBody>
      </p:sp>
      <p:sp>
        <p:nvSpPr>
          <p:cNvPr id="5" name="TextBox 4"/>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Objectives</a:t>
            </a:r>
          </a:p>
        </p:txBody>
      </p:sp>
      <p:sp>
        <p:nvSpPr>
          <p:cNvPr id="4" name="TextBox 3"/>
          <p:cNvSpPr txBox="1"/>
          <p:nvPr/>
        </p:nvSpPr>
        <p:spPr>
          <a:xfrm>
            <a:off x="731520" y="1417320"/>
            <a:ext cx="10789920" cy="4555093"/>
          </a:xfrm>
          <a:prstGeom prst="rect">
            <a:avLst/>
          </a:prstGeom>
          <a:noFill/>
        </p:spPr>
        <p:txBody>
          <a:bodyPr wrap="square">
            <a:spAutoFit/>
          </a:bodyPr>
          <a:lstStyle/>
          <a:p>
            <a:pPr marL="285750" indent="-285750">
              <a:spcAft>
                <a:spcPts val="1200"/>
              </a:spcAft>
              <a:buFont typeface="Arial" panose="020B0604020202020204" pitchFamily="34" charset="0"/>
              <a:buChar char="•"/>
              <a:defRPr sz="1700">
                <a:solidFill>
                  <a:srgbClr val="232830"/>
                </a:solidFill>
                <a:latin typeface="Aptos"/>
              </a:defRPr>
            </a:pPr>
            <a:r>
              <a:rPr sz="2000" dirty="0"/>
              <a:t>The project is designed to convert data into actionable intelligence through powerful dashboard analytics</a:t>
            </a:r>
            <a:endParaRPr lang="en-US" sz="2000" dirty="0"/>
          </a:p>
          <a:p>
            <a:pPr marL="285750" indent="-285750">
              <a:spcAft>
                <a:spcPts val="1200"/>
              </a:spcAft>
              <a:buFont typeface="Arial" panose="020B0604020202020204" pitchFamily="34" charset="0"/>
              <a:buChar char="•"/>
              <a:defRPr sz="1700">
                <a:solidFill>
                  <a:srgbClr val="232830"/>
                </a:solidFill>
                <a:latin typeface="Aptos"/>
              </a:defRPr>
            </a:pPr>
            <a:r>
              <a:rPr sz="2000" dirty="0"/>
              <a:t> Assess Risk Clearly</a:t>
            </a:r>
            <a:br>
              <a:rPr sz="2000" dirty="0"/>
            </a:br>
            <a:r>
              <a:rPr sz="2000" dirty="0"/>
              <a:t>Develop an interactive dashboard to identify and monitor different risk levels.</a:t>
            </a:r>
            <a:endParaRPr lang="en-US" sz="2000" dirty="0"/>
          </a:p>
          <a:p>
            <a:pPr marL="285750" indent="-285750">
              <a:spcAft>
                <a:spcPts val="1200"/>
              </a:spcAft>
              <a:buFont typeface="Arial" panose="020B0604020202020204" pitchFamily="34" charset="0"/>
              <a:buChar char="•"/>
              <a:defRPr sz="1700">
                <a:solidFill>
                  <a:srgbClr val="232830"/>
                </a:solidFill>
                <a:latin typeface="Aptos"/>
              </a:defRPr>
            </a:pPr>
            <a:r>
              <a:rPr sz="2000" dirty="0"/>
              <a:t>Discover Predictive Patterns</a:t>
            </a:r>
            <a:br>
              <a:rPr sz="2000" dirty="0"/>
            </a:br>
            <a:r>
              <a:rPr sz="2000" dirty="0"/>
              <a:t>Analyze historical indicators to recognize patterns associated with potential future risk.</a:t>
            </a:r>
            <a:endParaRPr lang="en-US" sz="2000" dirty="0"/>
          </a:p>
          <a:p>
            <a:pPr marL="285750" indent="-285750">
              <a:spcAft>
                <a:spcPts val="1200"/>
              </a:spcAft>
              <a:buFont typeface="Arial" panose="020B0604020202020204" pitchFamily="34" charset="0"/>
              <a:buChar char="•"/>
              <a:defRPr sz="1700">
                <a:solidFill>
                  <a:srgbClr val="232830"/>
                </a:solidFill>
                <a:latin typeface="Aptos"/>
              </a:defRPr>
            </a:pPr>
            <a:r>
              <a:rPr sz="2000" dirty="0"/>
              <a:t> Empower Decision-Makers</a:t>
            </a:r>
            <a:br>
              <a:rPr sz="2000" dirty="0"/>
            </a:br>
            <a:r>
              <a:rPr sz="2000" dirty="0"/>
              <a:t>Create an executive command-center view that presents key information in one place.</a:t>
            </a:r>
            <a:endParaRPr lang="en-US" sz="2000" dirty="0"/>
          </a:p>
          <a:p>
            <a:pPr marL="285750" indent="-285750">
              <a:spcAft>
                <a:spcPts val="1200"/>
              </a:spcAft>
              <a:buFont typeface="Arial" panose="020B0604020202020204" pitchFamily="34" charset="0"/>
              <a:buChar char="•"/>
              <a:defRPr sz="1700">
                <a:solidFill>
                  <a:srgbClr val="232830"/>
                </a:solidFill>
                <a:latin typeface="Aptos"/>
              </a:defRPr>
            </a:pPr>
            <a:r>
              <a:rPr sz="2000" dirty="0"/>
              <a:t> Enable Proactive Monitoring</a:t>
            </a:r>
            <a:br>
              <a:rPr sz="2000" dirty="0"/>
            </a:br>
            <a:r>
              <a:rPr sz="2000" dirty="0"/>
              <a:t>Highlight critical indicators for alerting, monitoring, and timely action.</a:t>
            </a:r>
            <a:endParaRPr lang="en-US" sz="2000" dirty="0"/>
          </a:p>
          <a:p>
            <a:pPr marL="285750" indent="-285750">
              <a:spcAft>
                <a:spcPts val="1200"/>
              </a:spcAft>
              <a:buFont typeface="Arial" panose="020B0604020202020204" pitchFamily="34" charset="0"/>
              <a:buChar char="•"/>
              <a:defRPr sz="1700">
                <a:solidFill>
                  <a:srgbClr val="232830"/>
                </a:solidFill>
                <a:latin typeface="Aptos"/>
              </a:defRPr>
            </a:pPr>
            <a:r>
              <a:rPr sz="2000" dirty="0"/>
              <a:t> Optimize Performance</a:t>
            </a:r>
            <a:br>
              <a:rPr sz="2000" dirty="0"/>
            </a:br>
            <a:r>
              <a:rPr sz="2000" dirty="0"/>
              <a:t>Support continuous improvement through data-driven insights and performance analysis.</a:t>
            </a:r>
          </a:p>
        </p:txBody>
      </p:sp>
      <p:sp>
        <p:nvSpPr>
          <p:cNvPr id="5" name="TextBox 4"/>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Security Risk Assessment Dashboard</a:t>
            </a:r>
          </a:p>
        </p:txBody>
      </p:sp>
      <p:sp>
        <p:nvSpPr>
          <p:cNvPr id="4" name="TextBox 3"/>
          <p:cNvSpPr txBox="1"/>
          <p:nvPr/>
        </p:nvSpPr>
        <p:spPr>
          <a:xfrm>
            <a:off x="530352" y="1170432"/>
            <a:ext cx="10972800" cy="347472"/>
          </a:xfrm>
          <a:prstGeom prst="rect">
            <a:avLst/>
          </a:prstGeom>
          <a:noFill/>
        </p:spPr>
        <p:txBody>
          <a:bodyPr wrap="none">
            <a:spAutoFit/>
          </a:bodyPr>
          <a:lstStyle/>
          <a:p>
            <a:pPr>
              <a:defRPr sz="1300">
                <a:solidFill>
                  <a:srgbClr val="646E7D"/>
                </a:solidFill>
              </a:defRPr>
            </a:pPr>
            <a:r>
              <a:t>Overall view of customer risk and key financial indicators</a:t>
            </a:r>
          </a:p>
        </p:txBody>
      </p:sp>
      <p:sp>
        <p:nvSpPr>
          <p:cNvPr id="5" name="Rounded Rectangle 4"/>
          <p:cNvSpPr/>
          <p:nvPr/>
        </p:nvSpPr>
        <p:spPr>
          <a:xfrm>
            <a:off x="640080" y="1508760"/>
            <a:ext cx="3474720" cy="109728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Total Records</a:t>
            </a:r>
          </a:p>
          <a:p>
            <a:pPr>
              <a:defRPr sz="2500" b="1">
                <a:solidFill>
                  <a:srgbClr val="122340"/>
                </a:solidFill>
              </a:defRPr>
            </a:pPr>
            <a:r>
              <a:t>15,000</a:t>
            </a:r>
          </a:p>
        </p:txBody>
      </p:sp>
      <p:sp>
        <p:nvSpPr>
          <p:cNvPr id="6" name="Rounded Rectangle 5"/>
          <p:cNvSpPr/>
          <p:nvPr/>
        </p:nvSpPr>
        <p:spPr>
          <a:xfrm>
            <a:off x="4343400" y="1508760"/>
            <a:ext cx="3474720" cy="109728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High-Risk Customers</a:t>
            </a:r>
          </a:p>
          <a:p>
            <a:pPr>
              <a:defRPr sz="2500" b="1">
                <a:solidFill>
                  <a:srgbClr val="122340"/>
                </a:solidFill>
              </a:defRPr>
            </a:pPr>
            <a:r>
              <a:t>1,500</a:t>
            </a:r>
          </a:p>
        </p:txBody>
      </p:sp>
      <p:sp>
        <p:nvSpPr>
          <p:cNvPr id="7" name="Rounded Rectangle 6"/>
          <p:cNvSpPr/>
          <p:nvPr/>
        </p:nvSpPr>
        <p:spPr>
          <a:xfrm>
            <a:off x="8046720" y="1508760"/>
            <a:ext cx="3474720" cy="109728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Average Credit Score</a:t>
            </a:r>
          </a:p>
          <a:p>
            <a:pPr>
              <a:defRPr sz="2500" b="1">
                <a:solidFill>
                  <a:srgbClr val="122340"/>
                </a:solidFill>
              </a:defRPr>
            </a:pPr>
            <a:r>
              <a:t>699.09</a:t>
            </a:r>
          </a:p>
        </p:txBody>
      </p:sp>
      <p:pic>
        <p:nvPicPr>
          <p:cNvPr id="8" name="Picture 7" descr="risk_distribution.png"/>
          <p:cNvPicPr>
            <a:picLocks noChangeAspect="1"/>
          </p:cNvPicPr>
          <p:nvPr/>
        </p:nvPicPr>
        <p:blipFill>
          <a:blip r:embed="rId2"/>
          <a:stretch>
            <a:fillRect/>
          </a:stretch>
        </p:blipFill>
        <p:spPr>
          <a:xfrm>
            <a:off x="640080" y="2880360"/>
            <a:ext cx="5303520" cy="2606040"/>
          </a:xfrm>
          <a:prstGeom prst="rect">
            <a:avLst/>
          </a:prstGeom>
        </p:spPr>
      </p:pic>
      <p:pic>
        <p:nvPicPr>
          <p:cNvPr id="9" name="Picture 8" descr="employment_risk.png"/>
          <p:cNvPicPr>
            <a:picLocks noChangeAspect="1"/>
          </p:cNvPicPr>
          <p:nvPr/>
        </p:nvPicPr>
        <p:blipFill>
          <a:blip r:embed="rId3"/>
          <a:stretch>
            <a:fillRect/>
          </a:stretch>
        </p:blipFill>
        <p:spPr>
          <a:xfrm>
            <a:off x="6172200" y="2880360"/>
            <a:ext cx="5303520" cy="2606040"/>
          </a:xfrm>
          <a:prstGeom prst="rect">
            <a:avLst/>
          </a:prstGeom>
        </p:spPr>
      </p:pic>
      <p:sp>
        <p:nvSpPr>
          <p:cNvPr id="10" name="Rounded Rectangle 9"/>
          <p:cNvSpPr/>
          <p:nvPr/>
        </p:nvSpPr>
        <p:spPr>
          <a:xfrm>
            <a:off x="685800" y="5715000"/>
            <a:ext cx="10789920" cy="502920"/>
          </a:xfrm>
          <a:prstGeom prst="roundRect">
            <a:avLst/>
          </a:prstGeom>
          <a:solidFill>
            <a:srgbClr val="E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22340"/>
                </a:solidFill>
              </a:defRPr>
            </a:pPr>
            <a:r>
              <a:t>Key Insight: The dashboard provides a quick assessment of overall risk distribution and customer risk patterns.</a:t>
            </a:r>
          </a:p>
        </p:txBody>
      </p:sp>
      <p:sp>
        <p:nvSpPr>
          <p:cNvPr id="11" name="TextBox 10"/>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Security Risk Assessment – Risk Distribution</a:t>
            </a:r>
          </a:p>
        </p:txBody>
      </p:sp>
      <p:pic>
        <p:nvPicPr>
          <p:cNvPr id="4" name="Picture 3" descr="risk_distribution.png"/>
          <p:cNvPicPr>
            <a:picLocks noChangeAspect="1"/>
          </p:cNvPicPr>
          <p:nvPr/>
        </p:nvPicPr>
        <p:blipFill>
          <a:blip r:embed="rId2"/>
          <a:stretch>
            <a:fillRect/>
          </a:stretch>
        </p:blipFill>
        <p:spPr>
          <a:xfrm>
            <a:off x="640080" y="1417320"/>
            <a:ext cx="5486400" cy="4160520"/>
          </a:xfrm>
          <a:prstGeom prst="rect">
            <a:avLst/>
          </a:prstGeom>
        </p:spPr>
      </p:pic>
      <p:pic>
        <p:nvPicPr>
          <p:cNvPr id="5" name="Picture 4" descr="employment_risk.png"/>
          <p:cNvPicPr>
            <a:picLocks noChangeAspect="1"/>
          </p:cNvPicPr>
          <p:nvPr/>
        </p:nvPicPr>
        <p:blipFill>
          <a:blip r:embed="rId3"/>
          <a:stretch>
            <a:fillRect/>
          </a:stretch>
        </p:blipFill>
        <p:spPr>
          <a:xfrm>
            <a:off x="6172200" y="1417320"/>
            <a:ext cx="5349240" cy="4160520"/>
          </a:xfrm>
          <a:prstGeom prst="rect">
            <a:avLst/>
          </a:prstGeom>
        </p:spPr>
      </p:pic>
      <p:sp>
        <p:nvSpPr>
          <p:cNvPr id="6" name="Rounded Rectangle 5"/>
          <p:cNvSpPr/>
          <p:nvPr/>
        </p:nvSpPr>
        <p:spPr>
          <a:xfrm>
            <a:off x="685800" y="5760720"/>
            <a:ext cx="10789920" cy="502920"/>
          </a:xfrm>
          <a:prstGeom prst="roundRect">
            <a:avLst/>
          </a:prstGeom>
          <a:solidFill>
            <a:srgbClr val="E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22340"/>
                </a:solidFill>
              </a:defRPr>
            </a:pPr>
            <a:r>
              <a:t>Key Insight: Risk distribution identifies the concentration of Low, Medium, and High-risk customers, while employment analysis compares risk across employment groups.</a:t>
            </a:r>
          </a:p>
        </p:txBody>
      </p:sp>
      <p:sp>
        <p:nvSpPr>
          <p:cNvPr id="7" name="TextBox 6"/>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Security Risk Assessment – Detailed Risk Analysis</a:t>
            </a:r>
          </a:p>
        </p:txBody>
      </p:sp>
      <p:pic>
        <p:nvPicPr>
          <p:cNvPr id="4" name="Picture 3" descr="purpose_risk.png"/>
          <p:cNvPicPr>
            <a:picLocks noChangeAspect="1"/>
          </p:cNvPicPr>
          <p:nvPr/>
        </p:nvPicPr>
        <p:blipFill>
          <a:blip r:embed="rId2"/>
          <a:stretch>
            <a:fillRect/>
          </a:stretch>
        </p:blipFill>
        <p:spPr>
          <a:xfrm>
            <a:off x="640080" y="1417320"/>
            <a:ext cx="5669280" cy="4251960"/>
          </a:xfrm>
          <a:prstGeom prst="rect">
            <a:avLst/>
          </a:prstGeom>
        </p:spPr>
      </p:pic>
      <p:sp>
        <p:nvSpPr>
          <p:cNvPr id="5" name="TextBox 4"/>
          <p:cNvSpPr txBox="1"/>
          <p:nvPr/>
        </p:nvSpPr>
        <p:spPr>
          <a:xfrm>
            <a:off x="6537960" y="1645920"/>
            <a:ext cx="4754880" cy="4023360"/>
          </a:xfrm>
          <a:prstGeom prst="rect">
            <a:avLst/>
          </a:prstGeom>
          <a:noFill/>
        </p:spPr>
        <p:txBody>
          <a:bodyPr wrap="square">
            <a:spAutoFit/>
          </a:bodyPr>
          <a:lstStyle/>
          <a:p>
            <a:pPr>
              <a:spcAft>
                <a:spcPts val="1200"/>
              </a:spcAft>
              <a:defRPr sz="1800">
                <a:solidFill>
                  <a:srgbClr val="232830"/>
                </a:solidFill>
                <a:latin typeface="Aptos"/>
              </a:defRPr>
            </a:pPr>
            <a:r>
              <a:t>Risk by Loan Purpose</a:t>
            </a:r>
          </a:p>
          <a:p>
            <a:pPr lvl="1">
              <a:spcAft>
                <a:spcPts val="1200"/>
              </a:spcAft>
              <a:defRPr sz="1600">
                <a:solidFill>
                  <a:srgbClr val="232830"/>
                </a:solidFill>
                <a:latin typeface="Aptos"/>
              </a:defRPr>
            </a:pPr>
            <a:r>
              <a:t>Shows how customer risk is distributed across different loan purposes.</a:t>
            </a:r>
          </a:p>
          <a:p>
            <a:pPr>
              <a:spcAft>
                <a:spcPts val="1200"/>
              </a:spcAft>
              <a:defRPr sz="1800">
                <a:solidFill>
                  <a:srgbClr val="232830"/>
                </a:solidFill>
                <a:latin typeface="Aptos"/>
              </a:defRPr>
            </a:pPr>
            <a:r>
              <a:t>Risk Assessment Value</a:t>
            </a:r>
          </a:p>
          <a:p>
            <a:pPr lvl="1">
              <a:spcAft>
                <a:spcPts val="1200"/>
              </a:spcAft>
              <a:defRPr sz="1600">
                <a:solidFill>
                  <a:srgbClr val="232830"/>
                </a:solidFill>
                <a:latin typeface="Aptos"/>
              </a:defRPr>
            </a:pPr>
            <a:r>
              <a:t>Helps identify categories that require greater monitoring and risk-control attention.</a:t>
            </a:r>
          </a:p>
          <a:p>
            <a:pPr>
              <a:spcAft>
                <a:spcPts val="1200"/>
              </a:spcAft>
              <a:defRPr sz="1800">
                <a:solidFill>
                  <a:srgbClr val="232830"/>
                </a:solidFill>
                <a:latin typeface="Aptos"/>
              </a:defRPr>
            </a:pPr>
            <a:r>
              <a:t>Decision Support</a:t>
            </a:r>
          </a:p>
          <a:p>
            <a:pPr lvl="1">
              <a:spcAft>
                <a:spcPts val="1200"/>
              </a:spcAft>
              <a:defRPr sz="1600">
                <a:solidFill>
                  <a:srgbClr val="232830"/>
                </a:solidFill>
                <a:latin typeface="Aptos"/>
              </a:defRPr>
            </a:pPr>
            <a:r>
              <a:t>Supports prioritization of high-risk customer segments and loan categories.</a:t>
            </a:r>
          </a:p>
        </p:txBody>
      </p:sp>
      <p:sp>
        <p:nvSpPr>
          <p:cNvPr id="6" name="TextBox 5"/>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Predictive Threat Analytics</a:t>
            </a:r>
          </a:p>
        </p:txBody>
      </p:sp>
      <p:sp>
        <p:nvSpPr>
          <p:cNvPr id="4" name="TextBox 3"/>
          <p:cNvSpPr txBox="1"/>
          <p:nvPr/>
        </p:nvSpPr>
        <p:spPr>
          <a:xfrm>
            <a:off x="530352" y="1170432"/>
            <a:ext cx="10972800" cy="347472"/>
          </a:xfrm>
          <a:prstGeom prst="rect">
            <a:avLst/>
          </a:prstGeom>
          <a:noFill/>
        </p:spPr>
        <p:txBody>
          <a:bodyPr wrap="none">
            <a:spAutoFit/>
          </a:bodyPr>
          <a:lstStyle/>
          <a:p>
            <a:pPr>
              <a:defRPr sz="1300">
                <a:solidFill>
                  <a:srgbClr val="646E7D"/>
                </a:solidFill>
              </a:defRPr>
            </a:pPr>
            <a:r>
              <a:t>Pattern-based analysis using historical financial risk indicators</a:t>
            </a:r>
          </a:p>
        </p:txBody>
      </p:sp>
      <p:sp>
        <p:nvSpPr>
          <p:cNvPr id="5" name="Rounded Rectangle 4"/>
          <p:cNvSpPr/>
          <p:nvPr/>
        </p:nvSpPr>
        <p:spPr>
          <a:xfrm>
            <a:off x="640080" y="1417320"/>
            <a:ext cx="3474720" cy="105156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Average Income</a:t>
            </a:r>
          </a:p>
          <a:p>
            <a:pPr>
              <a:defRPr sz="2500" b="1">
                <a:solidFill>
                  <a:srgbClr val="122340"/>
                </a:solidFill>
              </a:defRPr>
            </a:pPr>
            <a:r>
              <a:t>69,909</a:t>
            </a:r>
          </a:p>
        </p:txBody>
      </p:sp>
      <p:sp>
        <p:nvSpPr>
          <p:cNvPr id="6" name="Rounded Rectangle 5"/>
          <p:cNvSpPr/>
          <p:nvPr/>
        </p:nvSpPr>
        <p:spPr>
          <a:xfrm>
            <a:off x="4343400" y="1417320"/>
            <a:ext cx="3474720" cy="105156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Average Loan Amount</a:t>
            </a:r>
          </a:p>
          <a:p>
            <a:pPr>
              <a:defRPr sz="2500" b="1">
                <a:solidFill>
                  <a:srgbClr val="122340"/>
                </a:solidFill>
              </a:defRPr>
            </a:pPr>
            <a:r>
              <a:t>27,464</a:t>
            </a:r>
          </a:p>
        </p:txBody>
      </p:sp>
      <p:sp>
        <p:nvSpPr>
          <p:cNvPr id="7" name="Rounded Rectangle 6"/>
          <p:cNvSpPr/>
          <p:nvPr/>
        </p:nvSpPr>
        <p:spPr>
          <a:xfrm>
            <a:off x="8046720" y="1417320"/>
            <a:ext cx="3474720" cy="105156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Average Debt-to-Income Ratio</a:t>
            </a:r>
          </a:p>
          <a:p>
            <a:pPr>
              <a:defRPr sz="2500" b="1">
                <a:solidFill>
                  <a:srgbClr val="122340"/>
                </a:solidFill>
              </a:defRPr>
            </a:pPr>
            <a:r>
              <a:t>0.35</a:t>
            </a:r>
          </a:p>
        </p:txBody>
      </p:sp>
      <p:pic>
        <p:nvPicPr>
          <p:cNvPr id="8" name="Picture 7" descr="credit_loan.png"/>
          <p:cNvPicPr>
            <a:picLocks noChangeAspect="1"/>
          </p:cNvPicPr>
          <p:nvPr/>
        </p:nvPicPr>
        <p:blipFill>
          <a:blip r:embed="rId2"/>
          <a:stretch>
            <a:fillRect/>
          </a:stretch>
        </p:blipFill>
        <p:spPr>
          <a:xfrm>
            <a:off x="640080" y="2743200"/>
            <a:ext cx="5394960" cy="2743200"/>
          </a:xfrm>
          <a:prstGeom prst="rect">
            <a:avLst/>
          </a:prstGeom>
        </p:spPr>
      </p:pic>
      <p:pic>
        <p:nvPicPr>
          <p:cNvPr id="9" name="Picture 8" descr="payment_risk.png"/>
          <p:cNvPicPr>
            <a:picLocks noChangeAspect="1"/>
          </p:cNvPicPr>
          <p:nvPr/>
        </p:nvPicPr>
        <p:blipFill>
          <a:blip r:embed="rId3"/>
          <a:stretch>
            <a:fillRect/>
          </a:stretch>
        </p:blipFill>
        <p:spPr>
          <a:xfrm>
            <a:off x="6172200" y="2743200"/>
            <a:ext cx="5303520" cy="2743200"/>
          </a:xfrm>
          <a:prstGeom prst="rect">
            <a:avLst/>
          </a:prstGeom>
        </p:spPr>
      </p:pic>
      <p:sp>
        <p:nvSpPr>
          <p:cNvPr id="10" name="Rounded Rectangle 9"/>
          <p:cNvSpPr/>
          <p:nvPr/>
        </p:nvSpPr>
        <p:spPr>
          <a:xfrm>
            <a:off x="685800" y="5715000"/>
            <a:ext cx="10789920" cy="502920"/>
          </a:xfrm>
          <a:prstGeom prst="roundRect">
            <a:avLst/>
          </a:prstGeom>
          <a:solidFill>
            <a:srgbClr val="E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22340"/>
                </a:solidFill>
              </a:defRPr>
            </a:pPr>
            <a:r>
              <a:t>Key Insight: Historical relationships among credit score, loans, income, and payment behavior help identify patterns associated with future risk.</a:t>
            </a:r>
          </a:p>
        </p:txBody>
      </p:sp>
      <p:sp>
        <p:nvSpPr>
          <p:cNvPr id="11" name="TextBox 10"/>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Predictive Threat Analytics – Risk Pattern Analysis</a:t>
            </a:r>
          </a:p>
        </p:txBody>
      </p:sp>
      <p:pic>
        <p:nvPicPr>
          <p:cNvPr id="4" name="Picture 3" descr="credit_loan.png"/>
          <p:cNvPicPr>
            <a:picLocks noChangeAspect="1"/>
          </p:cNvPicPr>
          <p:nvPr/>
        </p:nvPicPr>
        <p:blipFill>
          <a:blip r:embed="rId2"/>
          <a:stretch>
            <a:fillRect/>
          </a:stretch>
        </p:blipFill>
        <p:spPr>
          <a:xfrm>
            <a:off x="640080" y="1417320"/>
            <a:ext cx="5486400" cy="4343400"/>
          </a:xfrm>
          <a:prstGeom prst="rect">
            <a:avLst/>
          </a:prstGeom>
        </p:spPr>
      </p:pic>
      <p:pic>
        <p:nvPicPr>
          <p:cNvPr id="5" name="Picture 4" descr="payment_risk.png"/>
          <p:cNvPicPr>
            <a:picLocks noChangeAspect="1"/>
          </p:cNvPicPr>
          <p:nvPr/>
        </p:nvPicPr>
        <p:blipFill>
          <a:blip r:embed="rId3"/>
          <a:stretch>
            <a:fillRect/>
          </a:stretch>
        </p:blipFill>
        <p:spPr>
          <a:xfrm>
            <a:off x="6172200" y="1417320"/>
            <a:ext cx="5349240" cy="4343400"/>
          </a:xfrm>
          <a:prstGeom prst="rect">
            <a:avLst/>
          </a:prstGeom>
        </p:spPr>
      </p:pic>
      <p:sp>
        <p:nvSpPr>
          <p:cNvPr id="6" name="Rounded Rectangle 5"/>
          <p:cNvSpPr/>
          <p:nvPr/>
        </p:nvSpPr>
        <p:spPr>
          <a:xfrm>
            <a:off x="685800" y="5760720"/>
            <a:ext cx="10789920" cy="502920"/>
          </a:xfrm>
          <a:prstGeom prst="roundRect">
            <a:avLst/>
          </a:prstGeom>
          <a:solidFill>
            <a:srgbClr val="E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22340"/>
                </a:solidFill>
              </a:defRPr>
            </a:pPr>
            <a:r>
              <a:t>Key Insight: Credit score and payment history are useful indicators for understanding borrowing behavior and identifying potentially higher-risk patterns.</a:t>
            </a:r>
          </a:p>
        </p:txBody>
      </p:sp>
      <p:sp>
        <p:nvSpPr>
          <p:cNvPr id="7" name="TextBox 6"/>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Predictive Threat Analytics – Previous Defaults &amp; Insights</a:t>
            </a:r>
          </a:p>
        </p:txBody>
      </p:sp>
      <p:pic>
        <p:nvPicPr>
          <p:cNvPr id="4" name="Picture 3" descr="defaults_risk.png"/>
          <p:cNvPicPr>
            <a:picLocks noChangeAspect="1"/>
          </p:cNvPicPr>
          <p:nvPr/>
        </p:nvPicPr>
        <p:blipFill>
          <a:blip r:embed="rId2"/>
          <a:stretch>
            <a:fillRect/>
          </a:stretch>
        </p:blipFill>
        <p:spPr>
          <a:xfrm>
            <a:off x="640080" y="1417320"/>
            <a:ext cx="5669280" cy="4251960"/>
          </a:xfrm>
          <a:prstGeom prst="rect">
            <a:avLst/>
          </a:prstGeom>
        </p:spPr>
      </p:pic>
      <p:sp>
        <p:nvSpPr>
          <p:cNvPr id="5" name="TextBox 4"/>
          <p:cNvSpPr txBox="1"/>
          <p:nvPr/>
        </p:nvSpPr>
        <p:spPr>
          <a:xfrm>
            <a:off x="6537960" y="1600200"/>
            <a:ext cx="4754880" cy="4206240"/>
          </a:xfrm>
          <a:prstGeom prst="rect">
            <a:avLst/>
          </a:prstGeom>
          <a:noFill/>
        </p:spPr>
        <p:txBody>
          <a:bodyPr wrap="square">
            <a:spAutoFit/>
          </a:bodyPr>
          <a:lstStyle/>
          <a:p>
            <a:pPr>
              <a:spcAft>
                <a:spcPts val="1200"/>
              </a:spcAft>
              <a:defRPr sz="1800">
                <a:solidFill>
                  <a:srgbClr val="232830"/>
                </a:solidFill>
                <a:latin typeface="Aptos"/>
              </a:defRPr>
            </a:pPr>
            <a:r>
              <a:t>Predictive Risk Indicators</a:t>
            </a:r>
          </a:p>
          <a:p>
            <a:pPr lvl="1">
              <a:spcAft>
                <a:spcPts val="1200"/>
              </a:spcAft>
              <a:defRPr sz="1600">
                <a:solidFill>
                  <a:srgbClr val="232830"/>
                </a:solidFill>
                <a:latin typeface="Aptos"/>
              </a:defRPr>
            </a:pPr>
            <a:r>
              <a:t>Previous defaults</a:t>
            </a:r>
          </a:p>
          <a:p>
            <a:pPr lvl="1">
              <a:spcAft>
                <a:spcPts val="1200"/>
              </a:spcAft>
              <a:defRPr sz="1600">
                <a:solidFill>
                  <a:srgbClr val="232830"/>
                </a:solidFill>
                <a:latin typeface="Aptos"/>
              </a:defRPr>
            </a:pPr>
            <a:r>
              <a:t>Payment history</a:t>
            </a:r>
          </a:p>
          <a:p>
            <a:pPr lvl="1">
              <a:spcAft>
                <a:spcPts val="1200"/>
              </a:spcAft>
              <a:defRPr sz="1600">
                <a:solidFill>
                  <a:srgbClr val="232830"/>
                </a:solidFill>
                <a:latin typeface="Aptos"/>
              </a:defRPr>
            </a:pPr>
            <a:r>
              <a:t>Credit score</a:t>
            </a:r>
          </a:p>
          <a:p>
            <a:pPr lvl="1">
              <a:spcAft>
                <a:spcPts val="1200"/>
              </a:spcAft>
              <a:defRPr sz="1600">
                <a:solidFill>
                  <a:srgbClr val="232830"/>
                </a:solidFill>
                <a:latin typeface="Aptos"/>
              </a:defRPr>
            </a:pPr>
            <a:r>
              <a:t>Debt-to-income ratio</a:t>
            </a:r>
          </a:p>
          <a:p>
            <a:pPr>
              <a:spcAft>
                <a:spcPts val="1200"/>
              </a:spcAft>
              <a:defRPr sz="1800">
                <a:solidFill>
                  <a:srgbClr val="232830"/>
                </a:solidFill>
                <a:latin typeface="Aptos"/>
              </a:defRPr>
            </a:pPr>
            <a:r>
              <a:t>Key Insight</a:t>
            </a:r>
          </a:p>
          <a:p>
            <a:pPr lvl="1">
              <a:spcAft>
                <a:spcPts val="1200"/>
              </a:spcAft>
              <a:defRPr sz="1600">
                <a:solidFill>
                  <a:srgbClr val="232830"/>
                </a:solidFill>
                <a:latin typeface="Aptos"/>
              </a:defRPr>
            </a:pPr>
            <a:r>
              <a:t>Combining historical indicators supports proactive identification of higher-risk patterns.</a:t>
            </a:r>
          </a:p>
        </p:txBody>
      </p:sp>
      <p:sp>
        <p:nvSpPr>
          <p:cNvPr id="6" name="TextBox 5"/>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Executive Command-Center Dashboard</a:t>
            </a:r>
          </a:p>
        </p:txBody>
      </p:sp>
      <p:sp>
        <p:nvSpPr>
          <p:cNvPr id="4" name="TextBox 3"/>
          <p:cNvSpPr txBox="1"/>
          <p:nvPr/>
        </p:nvSpPr>
        <p:spPr>
          <a:xfrm>
            <a:off x="530352" y="1170432"/>
            <a:ext cx="10972800" cy="347472"/>
          </a:xfrm>
          <a:prstGeom prst="rect">
            <a:avLst/>
          </a:prstGeom>
          <a:noFill/>
        </p:spPr>
        <p:txBody>
          <a:bodyPr wrap="none">
            <a:spAutoFit/>
          </a:bodyPr>
          <a:lstStyle/>
          <a:p>
            <a:pPr>
              <a:defRPr sz="1300">
                <a:solidFill>
                  <a:srgbClr val="646E7D"/>
                </a:solidFill>
              </a:defRPr>
            </a:pPr>
            <a:r>
              <a:t>High-level overview for management and decision-makers</a:t>
            </a:r>
          </a:p>
        </p:txBody>
      </p:sp>
      <p:sp>
        <p:nvSpPr>
          <p:cNvPr id="5" name="Rounded Rectangle 4"/>
          <p:cNvSpPr/>
          <p:nvPr/>
        </p:nvSpPr>
        <p:spPr>
          <a:xfrm>
            <a:off x="640080" y="1417320"/>
            <a:ext cx="3474720" cy="105156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Total Customers</a:t>
            </a:r>
          </a:p>
          <a:p>
            <a:pPr>
              <a:defRPr sz="2500" b="1">
                <a:solidFill>
                  <a:srgbClr val="122340"/>
                </a:solidFill>
              </a:defRPr>
            </a:pPr>
            <a:r>
              <a:t>15,000</a:t>
            </a:r>
          </a:p>
        </p:txBody>
      </p:sp>
      <p:sp>
        <p:nvSpPr>
          <p:cNvPr id="6" name="Rounded Rectangle 5"/>
          <p:cNvSpPr/>
          <p:nvPr/>
        </p:nvSpPr>
        <p:spPr>
          <a:xfrm>
            <a:off x="4343400" y="1417320"/>
            <a:ext cx="3474720" cy="105156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High-Risk Customers</a:t>
            </a:r>
          </a:p>
          <a:p>
            <a:pPr>
              <a:defRPr sz="2500" b="1">
                <a:solidFill>
                  <a:srgbClr val="122340"/>
                </a:solidFill>
              </a:defRPr>
            </a:pPr>
            <a:r>
              <a:t>1,500</a:t>
            </a:r>
          </a:p>
        </p:txBody>
      </p:sp>
      <p:sp>
        <p:nvSpPr>
          <p:cNvPr id="7" name="Rounded Rectangle 6"/>
          <p:cNvSpPr/>
          <p:nvPr/>
        </p:nvSpPr>
        <p:spPr>
          <a:xfrm>
            <a:off x="8046720" y="1417320"/>
            <a:ext cx="3474720" cy="105156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Average Loan Amount</a:t>
            </a:r>
          </a:p>
          <a:p>
            <a:pPr>
              <a:defRPr sz="2500" b="1">
                <a:solidFill>
                  <a:srgbClr val="122340"/>
                </a:solidFill>
              </a:defRPr>
            </a:pPr>
            <a:r>
              <a:t>27,464</a:t>
            </a:r>
          </a:p>
        </p:txBody>
      </p:sp>
      <p:pic>
        <p:nvPicPr>
          <p:cNvPr id="8" name="Picture 7" descr="loan_purpose.png"/>
          <p:cNvPicPr>
            <a:picLocks noChangeAspect="1"/>
          </p:cNvPicPr>
          <p:nvPr/>
        </p:nvPicPr>
        <p:blipFill>
          <a:blip r:embed="rId2"/>
          <a:stretch>
            <a:fillRect/>
          </a:stretch>
        </p:blipFill>
        <p:spPr>
          <a:xfrm>
            <a:off x="640080" y="2743200"/>
            <a:ext cx="5394960" cy="2743200"/>
          </a:xfrm>
          <a:prstGeom prst="rect">
            <a:avLst/>
          </a:prstGeom>
        </p:spPr>
      </p:pic>
      <p:pic>
        <p:nvPicPr>
          <p:cNvPr id="9" name="Picture 8" descr="employment_dist.png"/>
          <p:cNvPicPr>
            <a:picLocks noChangeAspect="1"/>
          </p:cNvPicPr>
          <p:nvPr/>
        </p:nvPicPr>
        <p:blipFill>
          <a:blip r:embed="rId3"/>
          <a:stretch>
            <a:fillRect/>
          </a:stretch>
        </p:blipFill>
        <p:spPr>
          <a:xfrm>
            <a:off x="6172200" y="2743200"/>
            <a:ext cx="5303520" cy="2743200"/>
          </a:xfrm>
          <a:prstGeom prst="rect">
            <a:avLst/>
          </a:prstGeom>
        </p:spPr>
      </p:pic>
      <p:sp>
        <p:nvSpPr>
          <p:cNvPr id="10" name="Rounded Rectangle 9"/>
          <p:cNvSpPr/>
          <p:nvPr/>
        </p:nvSpPr>
        <p:spPr>
          <a:xfrm>
            <a:off x="685800" y="5715000"/>
            <a:ext cx="10789920" cy="502920"/>
          </a:xfrm>
          <a:prstGeom prst="roundRect">
            <a:avLst/>
          </a:prstGeom>
          <a:solidFill>
            <a:srgbClr val="E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22340"/>
                </a:solidFill>
              </a:defRPr>
            </a:pPr>
            <a:r>
              <a:t>Key Insight: The command center consolidates major indicators into a single view for faster executive monitoring and decision-making.</a:t>
            </a:r>
          </a:p>
        </p:txBody>
      </p:sp>
      <p:sp>
        <p:nvSpPr>
          <p:cNvPr id="11" name="TextBox 10"/>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Executive Command-Center – Business Overview</a:t>
            </a:r>
          </a:p>
        </p:txBody>
      </p:sp>
      <p:pic>
        <p:nvPicPr>
          <p:cNvPr id="4" name="Picture 3" descr="loan_purpose.png"/>
          <p:cNvPicPr>
            <a:picLocks noChangeAspect="1"/>
          </p:cNvPicPr>
          <p:nvPr/>
        </p:nvPicPr>
        <p:blipFill>
          <a:blip r:embed="rId2"/>
          <a:stretch>
            <a:fillRect/>
          </a:stretch>
        </p:blipFill>
        <p:spPr>
          <a:xfrm>
            <a:off x="640080" y="1417320"/>
            <a:ext cx="5486400" cy="4343400"/>
          </a:xfrm>
          <a:prstGeom prst="rect">
            <a:avLst/>
          </a:prstGeom>
        </p:spPr>
      </p:pic>
      <p:pic>
        <p:nvPicPr>
          <p:cNvPr id="5" name="Picture 4" descr="employment_dist.png"/>
          <p:cNvPicPr>
            <a:picLocks noChangeAspect="1"/>
          </p:cNvPicPr>
          <p:nvPr/>
        </p:nvPicPr>
        <p:blipFill>
          <a:blip r:embed="rId3"/>
          <a:stretch>
            <a:fillRect/>
          </a:stretch>
        </p:blipFill>
        <p:spPr>
          <a:xfrm>
            <a:off x="6172200" y="1417320"/>
            <a:ext cx="5349240" cy="4343400"/>
          </a:xfrm>
          <a:prstGeom prst="rect">
            <a:avLst/>
          </a:prstGeom>
        </p:spPr>
      </p:pic>
      <p:sp>
        <p:nvSpPr>
          <p:cNvPr id="6" name="Rounded Rectangle 5"/>
          <p:cNvSpPr/>
          <p:nvPr/>
        </p:nvSpPr>
        <p:spPr>
          <a:xfrm>
            <a:off x="685800" y="5760720"/>
            <a:ext cx="10789920" cy="502920"/>
          </a:xfrm>
          <a:prstGeom prst="roundRect">
            <a:avLst/>
          </a:prstGeom>
          <a:solidFill>
            <a:srgbClr val="E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22340"/>
                </a:solidFill>
              </a:defRPr>
            </a:pPr>
            <a:r>
              <a:t>Key Insight: Loan purpose and employment profiles provide management with a clear overview of customer composition and financial exposure.</a:t>
            </a:r>
          </a:p>
        </p:txBody>
      </p:sp>
      <p:sp>
        <p:nvSpPr>
          <p:cNvPr id="7" name="TextBox 6"/>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Executive Command-Center – Decision-Making Insights</a:t>
            </a:r>
          </a:p>
        </p:txBody>
      </p:sp>
      <p:pic>
        <p:nvPicPr>
          <p:cNvPr id="4" name="Picture 3" descr="avg_loan_risk.png"/>
          <p:cNvPicPr>
            <a:picLocks noChangeAspect="1"/>
          </p:cNvPicPr>
          <p:nvPr/>
        </p:nvPicPr>
        <p:blipFill>
          <a:blip r:embed="rId2"/>
          <a:stretch>
            <a:fillRect/>
          </a:stretch>
        </p:blipFill>
        <p:spPr>
          <a:xfrm>
            <a:off x="640080" y="1417320"/>
            <a:ext cx="5577840" cy="4297680"/>
          </a:xfrm>
          <a:prstGeom prst="rect">
            <a:avLst/>
          </a:prstGeom>
        </p:spPr>
      </p:pic>
      <p:sp>
        <p:nvSpPr>
          <p:cNvPr id="5" name="TextBox 4"/>
          <p:cNvSpPr txBox="1"/>
          <p:nvPr/>
        </p:nvSpPr>
        <p:spPr>
          <a:xfrm>
            <a:off x="6492240" y="1554480"/>
            <a:ext cx="4800600" cy="4708981"/>
          </a:xfrm>
          <a:prstGeom prst="rect">
            <a:avLst/>
          </a:prstGeom>
          <a:noFill/>
        </p:spPr>
        <p:txBody>
          <a:bodyPr wrap="square">
            <a:spAutoFit/>
          </a:bodyPr>
          <a:lstStyle/>
          <a:p>
            <a:pPr marL="342900" indent="-342900">
              <a:spcAft>
                <a:spcPts val="1200"/>
              </a:spcAft>
              <a:buFont typeface="Arial" panose="020B0604020202020204" pitchFamily="34" charset="0"/>
              <a:buChar char="•"/>
              <a:defRPr sz="1800">
                <a:solidFill>
                  <a:srgbClr val="232830"/>
                </a:solidFill>
                <a:latin typeface="Aptos"/>
              </a:defRPr>
            </a:pPr>
            <a:r>
              <a:rPr sz="2000" dirty="0"/>
              <a:t>Executive Risk Summary</a:t>
            </a:r>
          </a:p>
          <a:p>
            <a:pPr lvl="1">
              <a:spcAft>
                <a:spcPts val="1200"/>
              </a:spcAft>
              <a:defRPr sz="1600">
                <a:solidFill>
                  <a:srgbClr val="232830"/>
                </a:solidFill>
                <a:latin typeface="Aptos"/>
              </a:defRPr>
            </a:pPr>
            <a:r>
              <a:rPr sz="2000" dirty="0"/>
              <a:t>Monitor overall risk exposure.</a:t>
            </a:r>
          </a:p>
          <a:p>
            <a:pPr lvl="1">
              <a:spcAft>
                <a:spcPts val="1200"/>
              </a:spcAft>
              <a:defRPr sz="1600">
                <a:solidFill>
                  <a:srgbClr val="232830"/>
                </a:solidFill>
                <a:latin typeface="Aptos"/>
              </a:defRPr>
            </a:pPr>
            <a:r>
              <a:rPr sz="2000" dirty="0"/>
              <a:t>Compare loan amounts across risk categories.</a:t>
            </a:r>
          </a:p>
          <a:p>
            <a:pPr lvl="1">
              <a:spcAft>
                <a:spcPts val="1200"/>
              </a:spcAft>
              <a:defRPr sz="1600">
                <a:solidFill>
                  <a:srgbClr val="232830"/>
                </a:solidFill>
                <a:latin typeface="Aptos"/>
              </a:defRPr>
            </a:pPr>
            <a:r>
              <a:rPr sz="2000" dirty="0"/>
              <a:t>Identify high-priority customer segments.</a:t>
            </a:r>
          </a:p>
          <a:p>
            <a:pPr lvl="1">
              <a:spcAft>
                <a:spcPts val="1200"/>
              </a:spcAft>
              <a:defRPr sz="1600">
                <a:solidFill>
                  <a:srgbClr val="232830"/>
                </a:solidFill>
                <a:latin typeface="Aptos"/>
              </a:defRPr>
            </a:pPr>
            <a:r>
              <a:rPr sz="2000" dirty="0"/>
              <a:t>Support strategic and data-driven decisions.</a:t>
            </a:r>
          </a:p>
          <a:p>
            <a:pPr marL="342900" indent="-342900">
              <a:spcAft>
                <a:spcPts val="1200"/>
              </a:spcAft>
              <a:buFont typeface="Arial" panose="020B0604020202020204" pitchFamily="34" charset="0"/>
              <a:buChar char="•"/>
              <a:defRPr sz="1800">
                <a:solidFill>
                  <a:srgbClr val="232830"/>
                </a:solidFill>
                <a:latin typeface="Aptos"/>
              </a:defRPr>
            </a:pPr>
            <a:r>
              <a:rPr sz="2000" dirty="0"/>
              <a:t>Management Benefit</a:t>
            </a:r>
          </a:p>
          <a:p>
            <a:pPr lvl="1">
              <a:spcAft>
                <a:spcPts val="1200"/>
              </a:spcAft>
              <a:defRPr sz="1600">
                <a:solidFill>
                  <a:srgbClr val="232830"/>
                </a:solidFill>
                <a:latin typeface="Aptos"/>
              </a:defRPr>
            </a:pPr>
            <a:r>
              <a:rPr sz="2000" dirty="0"/>
              <a:t>Important financial indicators are available in one centralized analytical view.</a:t>
            </a:r>
          </a:p>
        </p:txBody>
      </p:sp>
      <p:sp>
        <p:nvSpPr>
          <p:cNvPr id="6" name="TextBox 5"/>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Forecasting, Alerting, Security &amp; Performance Optimization</a:t>
            </a:r>
          </a:p>
        </p:txBody>
      </p:sp>
      <p:sp>
        <p:nvSpPr>
          <p:cNvPr id="4" name="TextBox 3"/>
          <p:cNvSpPr txBox="1"/>
          <p:nvPr/>
        </p:nvSpPr>
        <p:spPr>
          <a:xfrm>
            <a:off x="530352" y="1170432"/>
            <a:ext cx="10972800" cy="347472"/>
          </a:xfrm>
          <a:prstGeom prst="rect">
            <a:avLst/>
          </a:prstGeom>
          <a:noFill/>
        </p:spPr>
        <p:txBody>
          <a:bodyPr wrap="none">
            <a:spAutoFit/>
          </a:bodyPr>
          <a:lstStyle/>
          <a:p>
            <a:pPr>
              <a:defRPr sz="1300">
                <a:solidFill>
                  <a:srgbClr val="646E7D"/>
                </a:solidFill>
              </a:defRPr>
            </a:pPr>
            <a:r>
              <a:t>Monitoring critical indicators and supporting proactive risk management</a:t>
            </a:r>
          </a:p>
        </p:txBody>
      </p:sp>
      <p:sp>
        <p:nvSpPr>
          <p:cNvPr id="5" name="Rounded Rectangle 4"/>
          <p:cNvSpPr/>
          <p:nvPr/>
        </p:nvSpPr>
        <p:spPr>
          <a:xfrm>
            <a:off x="640080" y="1417320"/>
            <a:ext cx="3474720" cy="105156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High-Risk Customers</a:t>
            </a:r>
          </a:p>
          <a:p>
            <a:pPr>
              <a:defRPr sz="2500" b="1">
                <a:solidFill>
                  <a:srgbClr val="122340"/>
                </a:solidFill>
              </a:defRPr>
            </a:pPr>
            <a:r>
              <a:t>1,500</a:t>
            </a:r>
          </a:p>
        </p:txBody>
      </p:sp>
      <p:sp>
        <p:nvSpPr>
          <p:cNvPr id="6" name="Rounded Rectangle 5"/>
          <p:cNvSpPr/>
          <p:nvPr/>
        </p:nvSpPr>
        <p:spPr>
          <a:xfrm>
            <a:off x="4343400" y="1417320"/>
            <a:ext cx="3474720" cy="105156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Customers with Defaults</a:t>
            </a:r>
          </a:p>
          <a:p>
            <a:pPr>
              <a:defRPr sz="2500" b="1">
                <a:solidFill>
                  <a:srgbClr val="122340"/>
                </a:solidFill>
              </a:defRPr>
            </a:pPr>
            <a:r>
              <a:t>12,429</a:t>
            </a:r>
          </a:p>
        </p:txBody>
      </p:sp>
      <p:sp>
        <p:nvSpPr>
          <p:cNvPr id="7" name="Rounded Rectangle 6"/>
          <p:cNvSpPr/>
          <p:nvPr/>
        </p:nvSpPr>
        <p:spPr>
          <a:xfrm>
            <a:off x="8046720" y="1417320"/>
            <a:ext cx="3474720" cy="1051560"/>
          </a:xfrm>
          <a:prstGeom prst="roundRect">
            <a:avLst/>
          </a:prstGeom>
          <a:solidFill>
            <a:srgbClr val="FFFFFF"/>
          </a:solidFill>
          <a:ln>
            <a:solidFill>
              <a:srgbClr val="D7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a:solidFill>
                  <a:srgbClr val="646E7D"/>
                </a:solidFill>
              </a:defRPr>
            </a:pPr>
            <a:r>
              <a:t>Average Assets Value</a:t>
            </a:r>
          </a:p>
          <a:p>
            <a:pPr>
              <a:defRPr sz="2500" b="1">
                <a:solidFill>
                  <a:srgbClr val="122340"/>
                </a:solidFill>
              </a:defRPr>
            </a:pPr>
            <a:r>
              <a:t>159,685</a:t>
            </a:r>
          </a:p>
        </p:txBody>
      </p:sp>
      <p:pic>
        <p:nvPicPr>
          <p:cNvPr id="8" name="Picture 7" descr="highrisk_payment.png"/>
          <p:cNvPicPr>
            <a:picLocks noChangeAspect="1"/>
          </p:cNvPicPr>
          <p:nvPr/>
        </p:nvPicPr>
        <p:blipFill>
          <a:blip r:embed="rId2"/>
          <a:stretch>
            <a:fillRect/>
          </a:stretch>
        </p:blipFill>
        <p:spPr>
          <a:xfrm>
            <a:off x="640080" y="2743200"/>
            <a:ext cx="5394960" cy="2743200"/>
          </a:xfrm>
          <a:prstGeom prst="rect">
            <a:avLst/>
          </a:prstGeom>
        </p:spPr>
      </p:pic>
      <p:pic>
        <p:nvPicPr>
          <p:cNvPr id="9" name="Picture 8" descr="credit_risk.png"/>
          <p:cNvPicPr>
            <a:picLocks noChangeAspect="1"/>
          </p:cNvPicPr>
          <p:nvPr/>
        </p:nvPicPr>
        <p:blipFill>
          <a:blip r:embed="rId3"/>
          <a:stretch>
            <a:fillRect/>
          </a:stretch>
        </p:blipFill>
        <p:spPr>
          <a:xfrm>
            <a:off x="6172200" y="2743200"/>
            <a:ext cx="5303520" cy="2743200"/>
          </a:xfrm>
          <a:prstGeom prst="rect">
            <a:avLst/>
          </a:prstGeom>
        </p:spPr>
      </p:pic>
      <p:sp>
        <p:nvSpPr>
          <p:cNvPr id="10" name="Rounded Rectangle 9"/>
          <p:cNvSpPr/>
          <p:nvPr/>
        </p:nvSpPr>
        <p:spPr>
          <a:xfrm>
            <a:off x="685800" y="5715000"/>
            <a:ext cx="10789920" cy="502920"/>
          </a:xfrm>
          <a:prstGeom prst="roundRect">
            <a:avLst/>
          </a:prstGeom>
          <a:solidFill>
            <a:srgbClr val="E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22340"/>
                </a:solidFill>
              </a:defRPr>
            </a:pPr>
            <a:r>
              <a:t>Key Insight: Critical risk indicators can be monitored to highlight situations that require attention and improve proactive risk management.</a:t>
            </a:r>
          </a:p>
        </p:txBody>
      </p:sp>
      <p:sp>
        <p:nvSpPr>
          <p:cNvPr id="11" name="TextBox 10"/>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Forecasting &amp; Alerting – Risk Monitoring</a:t>
            </a:r>
          </a:p>
        </p:txBody>
      </p:sp>
      <p:pic>
        <p:nvPicPr>
          <p:cNvPr id="4" name="Picture 3" descr="highrisk_payment.png"/>
          <p:cNvPicPr>
            <a:picLocks noChangeAspect="1"/>
          </p:cNvPicPr>
          <p:nvPr/>
        </p:nvPicPr>
        <p:blipFill>
          <a:blip r:embed="rId2"/>
          <a:stretch>
            <a:fillRect/>
          </a:stretch>
        </p:blipFill>
        <p:spPr>
          <a:xfrm>
            <a:off x="640080" y="1417320"/>
            <a:ext cx="5486400" cy="4343400"/>
          </a:xfrm>
          <a:prstGeom prst="rect">
            <a:avLst/>
          </a:prstGeom>
        </p:spPr>
      </p:pic>
      <p:pic>
        <p:nvPicPr>
          <p:cNvPr id="5" name="Picture 4" descr="credit_risk.png"/>
          <p:cNvPicPr>
            <a:picLocks noChangeAspect="1"/>
          </p:cNvPicPr>
          <p:nvPr/>
        </p:nvPicPr>
        <p:blipFill>
          <a:blip r:embed="rId3"/>
          <a:stretch>
            <a:fillRect/>
          </a:stretch>
        </p:blipFill>
        <p:spPr>
          <a:xfrm>
            <a:off x="6172200" y="1417320"/>
            <a:ext cx="5349240" cy="4343400"/>
          </a:xfrm>
          <a:prstGeom prst="rect">
            <a:avLst/>
          </a:prstGeom>
        </p:spPr>
      </p:pic>
      <p:sp>
        <p:nvSpPr>
          <p:cNvPr id="6" name="Rounded Rectangle 5"/>
          <p:cNvSpPr/>
          <p:nvPr/>
        </p:nvSpPr>
        <p:spPr>
          <a:xfrm>
            <a:off x="685800" y="5760720"/>
            <a:ext cx="10789920" cy="502920"/>
          </a:xfrm>
          <a:prstGeom prst="roundRect">
            <a:avLst/>
          </a:prstGeom>
          <a:solidFill>
            <a:srgbClr val="E1E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22340"/>
                </a:solidFill>
              </a:defRPr>
            </a:pPr>
            <a:r>
              <a:t>Key Insight: High-risk customers can be monitored through payment behavior and credit-score bands to support alert prioritization.</a:t>
            </a:r>
          </a:p>
        </p:txBody>
      </p:sp>
      <p:sp>
        <p:nvSpPr>
          <p:cNvPr id="7" name="TextBox 6"/>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Security &amp; Performance Optimization</a:t>
            </a:r>
          </a:p>
        </p:txBody>
      </p:sp>
      <p:pic>
        <p:nvPicPr>
          <p:cNvPr id="4" name="Picture 3" descr="income_assets.png"/>
          <p:cNvPicPr>
            <a:picLocks noChangeAspect="1"/>
          </p:cNvPicPr>
          <p:nvPr/>
        </p:nvPicPr>
        <p:blipFill>
          <a:blip r:embed="rId2"/>
          <a:stretch>
            <a:fillRect/>
          </a:stretch>
        </p:blipFill>
        <p:spPr>
          <a:xfrm>
            <a:off x="640080" y="1417320"/>
            <a:ext cx="5669280" cy="4297680"/>
          </a:xfrm>
          <a:prstGeom prst="rect">
            <a:avLst/>
          </a:prstGeom>
        </p:spPr>
      </p:pic>
      <p:sp>
        <p:nvSpPr>
          <p:cNvPr id="5" name="TextBox 4"/>
          <p:cNvSpPr txBox="1"/>
          <p:nvPr/>
        </p:nvSpPr>
        <p:spPr>
          <a:xfrm>
            <a:off x="6537960" y="1600200"/>
            <a:ext cx="4663440" cy="5016758"/>
          </a:xfrm>
          <a:prstGeom prst="rect">
            <a:avLst/>
          </a:prstGeom>
          <a:noFill/>
        </p:spPr>
        <p:txBody>
          <a:bodyPr wrap="square">
            <a:spAutoFit/>
          </a:bodyPr>
          <a:lstStyle/>
          <a:p>
            <a:pPr marL="342900" indent="-342900">
              <a:spcAft>
                <a:spcPts val="1200"/>
              </a:spcAft>
              <a:buFont typeface="Arial" panose="020B0604020202020204" pitchFamily="34" charset="0"/>
              <a:buChar char="•"/>
              <a:defRPr sz="1800">
                <a:solidFill>
                  <a:srgbClr val="232830"/>
                </a:solidFill>
                <a:latin typeface="Aptos"/>
              </a:defRPr>
            </a:pPr>
            <a:r>
              <a:rPr sz="2000" dirty="0"/>
              <a:t>Performance Optimization Focus</a:t>
            </a:r>
          </a:p>
          <a:p>
            <a:pPr lvl="1">
              <a:spcAft>
                <a:spcPts val="1200"/>
              </a:spcAft>
              <a:defRPr sz="1600">
                <a:solidFill>
                  <a:srgbClr val="232830"/>
                </a:solidFill>
                <a:latin typeface="Aptos"/>
              </a:defRPr>
            </a:pPr>
            <a:r>
              <a:rPr sz="2000" dirty="0"/>
              <a:t>Analyze relationships between income and assets.</a:t>
            </a:r>
          </a:p>
          <a:p>
            <a:pPr lvl="1">
              <a:spcAft>
                <a:spcPts val="1200"/>
              </a:spcAft>
              <a:defRPr sz="1600">
                <a:solidFill>
                  <a:srgbClr val="232830"/>
                </a:solidFill>
                <a:latin typeface="Aptos"/>
              </a:defRPr>
            </a:pPr>
            <a:r>
              <a:rPr sz="2000" dirty="0"/>
              <a:t>Identify customer segments requiring attention.</a:t>
            </a:r>
          </a:p>
          <a:p>
            <a:pPr lvl="1">
              <a:spcAft>
                <a:spcPts val="1200"/>
              </a:spcAft>
              <a:defRPr sz="1600">
                <a:solidFill>
                  <a:srgbClr val="232830"/>
                </a:solidFill>
                <a:latin typeface="Aptos"/>
              </a:defRPr>
            </a:pPr>
            <a:r>
              <a:rPr sz="2000" dirty="0"/>
              <a:t>Improve monitoring and resource allocation.</a:t>
            </a:r>
          </a:p>
          <a:p>
            <a:pPr lvl="1">
              <a:spcAft>
                <a:spcPts val="1200"/>
              </a:spcAft>
              <a:defRPr sz="1600">
                <a:solidFill>
                  <a:srgbClr val="232830"/>
                </a:solidFill>
                <a:latin typeface="Aptos"/>
              </a:defRPr>
            </a:pPr>
            <a:r>
              <a:rPr sz="2000" dirty="0"/>
              <a:t>Support proactive financial risk management.</a:t>
            </a:r>
          </a:p>
          <a:p>
            <a:pPr marL="342900" indent="-342900">
              <a:spcAft>
                <a:spcPts val="1200"/>
              </a:spcAft>
              <a:buFont typeface="Arial" panose="020B0604020202020204" pitchFamily="34" charset="0"/>
              <a:buChar char="•"/>
              <a:defRPr sz="1800">
                <a:solidFill>
                  <a:srgbClr val="232830"/>
                </a:solidFill>
                <a:latin typeface="Aptos"/>
              </a:defRPr>
            </a:pPr>
            <a:r>
              <a:rPr sz="2000" dirty="0"/>
              <a:t>Overall Value</a:t>
            </a:r>
          </a:p>
          <a:p>
            <a:pPr lvl="1">
              <a:spcAft>
                <a:spcPts val="1200"/>
              </a:spcAft>
              <a:defRPr sz="1600">
                <a:solidFill>
                  <a:srgbClr val="232830"/>
                </a:solidFill>
                <a:latin typeface="Aptos"/>
              </a:defRPr>
            </a:pPr>
            <a:r>
              <a:rPr sz="2000" dirty="0"/>
              <a:t>Combining monitoring, alerts, and performance indicators supports continuous improvement.</a:t>
            </a:r>
          </a:p>
        </p:txBody>
      </p:sp>
      <p:sp>
        <p:nvSpPr>
          <p:cNvPr id="6" name="TextBox 5"/>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621792"/>
            <a:ext cx="11155680" cy="594360"/>
          </a:xfrm>
          <a:prstGeom prst="rect">
            <a:avLst/>
          </a:prstGeom>
          <a:noFill/>
        </p:spPr>
        <p:txBody>
          <a:bodyPr wrap="none">
            <a:spAutoFit/>
          </a:bodyPr>
          <a:lstStyle/>
          <a:p>
            <a:pPr>
              <a:defRPr sz="2800" b="1">
                <a:solidFill>
                  <a:srgbClr val="122340"/>
                </a:solidFill>
              </a:defRPr>
            </a:pPr>
            <a:r>
              <a:t>Conclusion</a:t>
            </a:r>
          </a:p>
        </p:txBody>
      </p:sp>
      <p:sp>
        <p:nvSpPr>
          <p:cNvPr id="4" name="TextBox 3"/>
          <p:cNvSpPr txBox="1"/>
          <p:nvPr/>
        </p:nvSpPr>
        <p:spPr>
          <a:xfrm>
            <a:off x="731520" y="1508760"/>
            <a:ext cx="10789920" cy="5139869"/>
          </a:xfrm>
          <a:prstGeom prst="rect">
            <a:avLst/>
          </a:prstGeom>
          <a:noFill/>
        </p:spPr>
        <p:txBody>
          <a:bodyPr wrap="square">
            <a:spAutoFit/>
          </a:bodyPr>
          <a:lstStyle/>
          <a:p>
            <a:pPr marL="285750" indent="-285750">
              <a:spcAft>
                <a:spcPts val="1200"/>
              </a:spcAft>
              <a:buFont typeface="Arial" panose="020B0604020202020204" pitchFamily="34" charset="0"/>
              <a:buChar char="•"/>
              <a:defRPr sz="1800">
                <a:solidFill>
                  <a:srgbClr val="232830"/>
                </a:solidFill>
                <a:latin typeface="Aptos"/>
              </a:defRPr>
            </a:pPr>
            <a:r>
              <a:rPr sz="2400" dirty="0"/>
              <a:t>This project demonstrates how preprocessed data can be transformed into meaningful and actionable insights through interactive dashboard analytics.</a:t>
            </a:r>
            <a:endParaRPr lang="en-US" sz="2400" dirty="0"/>
          </a:p>
          <a:p>
            <a:pPr marL="285750" indent="-285750">
              <a:spcAft>
                <a:spcPts val="1200"/>
              </a:spcAft>
              <a:buFont typeface="Arial" panose="020B0604020202020204" pitchFamily="34" charset="0"/>
              <a:buChar char="•"/>
              <a:defRPr sz="1800">
                <a:solidFill>
                  <a:srgbClr val="232830"/>
                </a:solidFill>
                <a:latin typeface="Aptos"/>
              </a:defRPr>
            </a:pPr>
            <a:r>
              <a:rPr sz="2400" dirty="0"/>
              <a:t> The Security Risk Assessment Dashboard provides a clear view of overall risk.</a:t>
            </a:r>
            <a:endParaRPr lang="en-US" sz="2400" dirty="0"/>
          </a:p>
          <a:p>
            <a:pPr marL="285750" indent="-285750">
              <a:spcAft>
                <a:spcPts val="1200"/>
              </a:spcAft>
              <a:buFont typeface="Arial" panose="020B0604020202020204" pitchFamily="34" charset="0"/>
              <a:buChar char="•"/>
              <a:defRPr sz="1800">
                <a:solidFill>
                  <a:srgbClr val="232830"/>
                </a:solidFill>
                <a:latin typeface="Aptos"/>
              </a:defRPr>
            </a:pPr>
            <a:r>
              <a:rPr sz="2400" dirty="0"/>
              <a:t>Predictive Analytics helps uncover important patterns and potential future risks.</a:t>
            </a:r>
            <a:endParaRPr lang="en-US" sz="2400" dirty="0"/>
          </a:p>
          <a:p>
            <a:pPr marL="285750" indent="-285750">
              <a:spcAft>
                <a:spcPts val="1200"/>
              </a:spcAft>
              <a:buFont typeface="Arial" panose="020B0604020202020204" pitchFamily="34" charset="0"/>
              <a:buChar char="•"/>
              <a:defRPr sz="1800">
                <a:solidFill>
                  <a:srgbClr val="232830"/>
                </a:solidFill>
                <a:latin typeface="Aptos"/>
              </a:defRPr>
            </a:pPr>
            <a:r>
              <a:rPr sz="2400" dirty="0"/>
              <a:t>The Executive Command-Center brings key indicators together for faster decision-making.</a:t>
            </a:r>
            <a:endParaRPr lang="en-US" sz="2400" dirty="0"/>
          </a:p>
          <a:p>
            <a:pPr marL="285750" indent="-285750">
              <a:spcAft>
                <a:spcPts val="1200"/>
              </a:spcAft>
              <a:buFont typeface="Arial" panose="020B0604020202020204" pitchFamily="34" charset="0"/>
              <a:buChar char="•"/>
              <a:defRPr sz="1800">
                <a:solidFill>
                  <a:srgbClr val="232830"/>
                </a:solidFill>
                <a:latin typeface="Aptos"/>
              </a:defRPr>
            </a:pPr>
            <a:r>
              <a:rPr sz="2400" dirty="0"/>
              <a:t>Alerting and Performance Optimization support continuous monitoring and improvement.</a:t>
            </a:r>
            <a:br>
              <a:rPr sz="2400" dirty="0"/>
            </a:br>
            <a:r>
              <a:rPr sz="2400" dirty="0"/>
              <a:t>Overall, the framework shows how data visualization can simplify complex information, strengthen risk awareness, and support smarter, faster, and more confident decisions.</a:t>
            </a:r>
          </a:p>
        </p:txBody>
      </p:sp>
      <p:sp>
        <p:nvSpPr>
          <p:cNvPr id="6" name="TextBox 5"/>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2F6FA"/>
        </a:solidFill>
        <a:effectLst/>
      </p:bgPr>
    </p:bg>
    <p:spTree>
      <p:nvGrpSpPr>
        <p:cNvPr id="1" name="">
          <a:extLst>
            <a:ext uri="{FF2B5EF4-FFF2-40B4-BE49-F238E27FC236}">
              <a16:creationId xmlns:a16="http://schemas.microsoft.com/office/drawing/2014/main" id="{2A3A734C-5D79-2DCB-46EB-8BFEE3DB0C1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5F5C583-F87F-5295-EDD7-A774E1029EE4}"/>
              </a:ext>
            </a:extLst>
          </p:cNvPr>
          <p:cNvSpPr/>
          <p:nvPr/>
        </p:nvSpPr>
        <p:spPr>
          <a:xfrm>
            <a:off x="0" y="0"/>
            <a:ext cx="12191695" cy="502920"/>
          </a:xfrm>
          <a:prstGeom prst="rect">
            <a:avLst/>
          </a:prstGeom>
          <a:solidFill>
            <a:srgbClr val="122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45904E63-8739-4CFE-C44D-F2E64F07BAC8}"/>
              </a:ext>
            </a:extLst>
          </p:cNvPr>
          <p:cNvSpPr txBox="1"/>
          <p:nvPr/>
        </p:nvSpPr>
        <p:spPr>
          <a:xfrm>
            <a:off x="3096959" y="2756916"/>
            <a:ext cx="5081777" cy="1015663"/>
          </a:xfrm>
          <a:prstGeom prst="rect">
            <a:avLst/>
          </a:prstGeom>
          <a:noFill/>
        </p:spPr>
        <p:txBody>
          <a:bodyPr wrap="none">
            <a:spAutoFit/>
          </a:bodyPr>
          <a:lstStyle/>
          <a:p>
            <a:pPr algn="ctr">
              <a:defRPr sz="3200" b="1">
                <a:solidFill>
                  <a:srgbClr val="122340"/>
                </a:solidFill>
              </a:defRPr>
            </a:pPr>
            <a:r>
              <a:rPr sz="6000" dirty="0">
                <a:latin typeface="Copperplate Gothic Light" panose="020E0507020206020404" pitchFamily="34" charset="0"/>
              </a:rPr>
              <a:t>THANK YOU</a:t>
            </a:r>
          </a:p>
        </p:txBody>
      </p:sp>
      <p:sp>
        <p:nvSpPr>
          <p:cNvPr id="6" name="TextBox 5">
            <a:extLst>
              <a:ext uri="{FF2B5EF4-FFF2-40B4-BE49-F238E27FC236}">
                <a16:creationId xmlns:a16="http://schemas.microsoft.com/office/drawing/2014/main" id="{8DA27706-59EC-A0EC-8969-5AC234C1A9AF}"/>
              </a:ext>
            </a:extLst>
          </p:cNvPr>
          <p:cNvSpPr txBox="1"/>
          <p:nvPr/>
        </p:nvSpPr>
        <p:spPr>
          <a:xfrm>
            <a:off x="10789920" y="6473952"/>
            <a:ext cx="914400" cy="228600"/>
          </a:xfrm>
          <a:prstGeom prst="rect">
            <a:avLst/>
          </a:prstGeom>
          <a:noFill/>
        </p:spPr>
        <p:txBody>
          <a:bodyPr wrap="none">
            <a:spAutoFit/>
          </a:bodyPr>
          <a:lstStyle/>
          <a:p>
            <a:pPr algn="r">
              <a:defRPr sz="1000">
                <a:solidFill>
                  <a:srgbClr val="646E7D"/>
                </a:solidFill>
              </a:defRPr>
            </a:pPr>
            <a:r>
              <a:t>16</a:t>
            </a:r>
          </a:p>
        </p:txBody>
      </p:sp>
    </p:spTree>
    <p:extLst>
      <p:ext uri="{BB962C8B-B14F-4D97-AF65-F5344CB8AC3E}">
        <p14:creationId xmlns:p14="http://schemas.microsoft.com/office/powerpoint/2010/main" val="22639930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TotalTime>
  <Words>785</Words>
  <Application>Microsoft Office PowerPoint</Application>
  <PresentationFormat>Widescreen</PresentationFormat>
  <Paragraphs>111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Copperplate Gothic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Shaik Madeeha Kouser</cp:lastModifiedBy>
  <cp:revision>2</cp:revision>
  <dcterms:created xsi:type="dcterms:W3CDTF">2013-01-27T09:14:16Z</dcterms:created>
  <dcterms:modified xsi:type="dcterms:W3CDTF">2026-08-30T14:32:41Z</dcterms:modified>
  <cp:category/>
</cp:coreProperties>
</file>